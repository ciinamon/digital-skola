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45"/>
  </p:notesMasterIdLst>
  <p:sldIdLst>
    <p:sldId id="256" r:id="rId2"/>
    <p:sldId id="257" r:id="rId3"/>
    <p:sldId id="258" r:id="rId4"/>
    <p:sldId id="284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338" r:id="rId41"/>
    <p:sldId id="339" r:id="rId42"/>
    <p:sldId id="294" r:id="rId43"/>
    <p:sldId id="268" r:id="rId44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6"/>
      <p:bold r:id="rId47"/>
      <p:italic r:id="rId48"/>
      <p:boldItalic r:id="rId49"/>
    </p:embeddedFont>
    <p:embeddedFont>
      <p:font typeface="Poppins" panose="00000500000000000000" pitchFamily="2" charset="0"/>
      <p:regular r:id="rId50"/>
      <p:bold r:id="rId51"/>
      <p:italic r:id="rId52"/>
      <p:boldItalic r:id="rId53"/>
    </p:embeddedFont>
    <p:embeddedFont>
      <p:font typeface="Poppins SemiBold" panose="00000700000000000000" pitchFamily="2" charset="0"/>
      <p:regular r:id="rId54"/>
      <p:bold r:id="rId55"/>
      <p:italic r:id="rId56"/>
      <p:boldItalic r:id="rId57"/>
    </p:embeddedFont>
    <p:embeddedFont>
      <p:font typeface="Roboto" panose="02000000000000000000" pitchFamily="2" charset="0"/>
      <p:regular r:id="rId58"/>
      <p:bold r:id="rId59"/>
      <p:italic r:id="rId60"/>
      <p:boldItalic r:id="rId61"/>
    </p:embeddedFont>
    <p:embeddedFont>
      <p:font typeface="Roboto Black" panose="02000000000000000000" pitchFamily="2" charset="0"/>
      <p:bold r:id="rId62"/>
      <p:boldItalic r:id="rId63"/>
    </p:embeddedFont>
    <p:embeddedFont>
      <p:font typeface="Roboto Light" panose="02000000000000000000" pitchFamily="2" charset="0"/>
      <p:regular r:id="rId64"/>
      <p: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A3630-EBEB-440F-8CDC-5A10249CF4A6}" v="381" dt="2025-12-15T09:43:59.7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4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63" Type="http://schemas.openxmlformats.org/officeDocument/2006/relationships/font" Target="fonts/font18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1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64" Type="http://schemas.openxmlformats.org/officeDocument/2006/relationships/font" Target="fonts/font19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font" Target="fonts/font14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62" Type="http://schemas.openxmlformats.org/officeDocument/2006/relationships/font" Target="fonts/font17.fntdata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font" Target="fonts/font15.fntdata"/><Relationship Id="rId65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5.fntdata"/><Relationship Id="rId55" Type="http://schemas.openxmlformats.org/officeDocument/2006/relationships/font" Target="fonts/font10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Ridhwan K" userId="4f6a9e18cd4fada3" providerId="Windows Live" clId="Web-{E73A3630-EBEB-440F-8CDC-5A10249CF4A6}"/>
    <pc:docChg chg="modSld">
      <pc:chgData name="M Ridhwan K" userId="4f6a9e18cd4fada3" providerId="Windows Live" clId="Web-{E73A3630-EBEB-440F-8CDC-5A10249CF4A6}" dt="2025-12-15T09:43:59.796" v="217" actId="20577"/>
      <pc:docMkLst>
        <pc:docMk/>
      </pc:docMkLst>
      <pc:sldChg chg="modSp">
        <pc:chgData name="M Ridhwan K" userId="4f6a9e18cd4fada3" providerId="Windows Live" clId="Web-{E73A3630-EBEB-440F-8CDC-5A10249CF4A6}" dt="2025-12-15T09:43:59.796" v="217" actId="20577"/>
        <pc:sldMkLst>
          <pc:docMk/>
          <pc:sldMk cId="1674692142" sldId="294"/>
        </pc:sldMkLst>
        <pc:spChg chg="mod">
          <ac:chgData name="M Ridhwan K" userId="4f6a9e18cd4fada3" providerId="Windows Live" clId="Web-{E73A3630-EBEB-440F-8CDC-5A10249CF4A6}" dt="2025-12-15T09:43:59.796" v="217" actId="20577"/>
          <ac:spMkLst>
            <pc:docMk/>
            <pc:sldMk cId="1674692142" sldId="294"/>
            <ac:spMk id="2" creationId="{2CCCAD54-F10E-CCE6-37B3-BCDD2A2A1C69}"/>
          </ac:spMkLst>
        </pc:spChg>
      </pc:sldChg>
      <pc:sldChg chg="modSp">
        <pc:chgData name="M Ridhwan K" userId="4f6a9e18cd4fada3" providerId="Windows Live" clId="Web-{E73A3630-EBEB-440F-8CDC-5A10249CF4A6}" dt="2025-12-15T09:27:55.319" v="19" actId="20577"/>
        <pc:sldMkLst>
          <pc:docMk/>
          <pc:sldMk cId="3019686452" sldId="332"/>
        </pc:sldMkLst>
        <pc:spChg chg="mod">
          <ac:chgData name="M Ridhwan K" userId="4f6a9e18cd4fada3" providerId="Windows Live" clId="Web-{E73A3630-EBEB-440F-8CDC-5A10249CF4A6}" dt="2025-12-15T09:27:43.960" v="7" actId="20577"/>
          <ac:spMkLst>
            <pc:docMk/>
            <pc:sldMk cId="3019686452" sldId="332"/>
            <ac:spMk id="3" creationId="{9682A093-B3D7-F93A-36A9-0A745AC0C008}"/>
          </ac:spMkLst>
        </pc:spChg>
        <pc:spChg chg="mod">
          <ac:chgData name="M Ridhwan K" userId="4f6a9e18cd4fada3" providerId="Windows Live" clId="Web-{E73A3630-EBEB-440F-8CDC-5A10249CF4A6}" dt="2025-12-15T09:27:55.319" v="19" actId="20577"/>
          <ac:spMkLst>
            <pc:docMk/>
            <pc:sldMk cId="3019686452" sldId="332"/>
            <ac:spMk id="4" creationId="{EC11C1F1-6B2B-299C-EA09-100C779C98BA}"/>
          </ac:spMkLst>
        </pc:spChg>
      </pc:sldChg>
      <pc:sldChg chg="addSp delSp modSp">
        <pc:chgData name="M Ridhwan K" userId="4f6a9e18cd4fada3" providerId="Windows Live" clId="Web-{E73A3630-EBEB-440F-8CDC-5A10249CF4A6}" dt="2025-12-15T09:31:31.726" v="31" actId="1076"/>
        <pc:sldMkLst>
          <pc:docMk/>
          <pc:sldMk cId="1195401455" sldId="333"/>
        </pc:sldMkLst>
        <pc:spChg chg="mod">
          <ac:chgData name="M Ridhwan K" userId="4f6a9e18cd4fada3" providerId="Windows Live" clId="Web-{E73A3630-EBEB-440F-8CDC-5A10249CF4A6}" dt="2025-12-15T09:30:48.770" v="20" actId="20577"/>
          <ac:spMkLst>
            <pc:docMk/>
            <pc:sldMk cId="1195401455" sldId="333"/>
            <ac:spMk id="4" creationId="{AD4F8766-9AB7-41EC-EC58-C4B5AC48F3FE}"/>
          </ac:spMkLst>
        </pc:spChg>
        <pc:picChg chg="add del mod">
          <ac:chgData name="M Ridhwan K" userId="4f6a9e18cd4fada3" providerId="Windows Live" clId="Web-{E73A3630-EBEB-440F-8CDC-5A10249CF4A6}" dt="2025-12-15T09:31:24.944" v="27"/>
          <ac:picMkLst>
            <pc:docMk/>
            <pc:sldMk cId="1195401455" sldId="333"/>
            <ac:picMk id="2" creationId="{98ACC99B-F3B2-FA72-D4DA-7B0F213B137F}"/>
          </ac:picMkLst>
        </pc:picChg>
        <pc:picChg chg="del">
          <ac:chgData name="M Ridhwan K" userId="4f6a9e18cd4fada3" providerId="Windows Live" clId="Web-{E73A3630-EBEB-440F-8CDC-5A10249CF4A6}" dt="2025-12-15T09:31:08.162" v="21"/>
          <ac:picMkLst>
            <pc:docMk/>
            <pc:sldMk cId="1195401455" sldId="333"/>
            <ac:picMk id="3" creationId="{23BDB8BB-A43D-F09A-570C-D1E1AB18C91D}"/>
          </ac:picMkLst>
        </pc:picChg>
        <pc:picChg chg="add mod">
          <ac:chgData name="M Ridhwan K" userId="4f6a9e18cd4fada3" providerId="Windows Live" clId="Web-{E73A3630-EBEB-440F-8CDC-5A10249CF4A6}" dt="2025-12-15T09:31:31.726" v="31" actId="1076"/>
          <ac:picMkLst>
            <pc:docMk/>
            <pc:sldMk cId="1195401455" sldId="333"/>
            <ac:picMk id="5" creationId="{F12D9A68-4A90-0F89-F51C-46A4D16B076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6730928124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6730928124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673092812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673092812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FFF06AE6-935E-1D84-C2A0-66E86F15C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D9F3B59C-6259-9BC1-AB35-8586F49851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9B9E022B-74CA-87DB-29CB-6C9EADD749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0906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0DFEA44D-20BD-A4CF-3BB9-23A5E3E17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256229FB-073B-6C2E-383D-B96C620F96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69A7FA55-553F-3D46-B88A-864737CE93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2455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970CB9C1-74EF-4589-F878-DECA94FA9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1B53BC03-8AF7-D0F0-A6B9-E17DF42B0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3188DAE8-14AE-CEF5-85E0-E56DE8F7D1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9648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1DB71E11-438B-93EF-7AAD-031F1E8C9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BA9813F0-22BD-C3C0-06C6-25BFB7054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721897C3-A848-3B35-02FA-F169C188E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0112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48DA06FC-6FEF-7946-4735-2F6EC0C97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F9730A51-380A-FA78-8A8C-432372A3BF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A2741501-51DE-F78E-FF28-C8FB4F8868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998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C339A070-BDCD-31CC-2BF9-372844B0B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52457931-27A4-414F-2E20-4A1D5D24F6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47322DE0-993C-000F-D02A-0BB517E03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8634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AC70E35F-F487-B25D-436B-800834627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C4B6C817-FDF8-A25E-386C-457D390A0A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D20B5646-821C-EF22-028B-E11F33F1F5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6217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782DA7E4-2B6F-29D6-3B55-057E4BC64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6447B477-10D1-5500-C47D-45FBAFD091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8B2E6381-A148-938D-908E-328924D07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933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11800749-A67C-BE48-ECFB-F0F7E5DD4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88D3093A-24AC-3367-2A06-BE2697FB05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2E589D95-06F9-CD62-31D5-6BBC24BEF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4063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7715FAF6-3F5A-AC23-A6CA-86F3EC24D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03A74882-A948-AA9A-232C-EE35C4DDAF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01D94192-F1B2-4DD0-85F3-C46D35FBAD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07605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A6091BE5-F36C-5859-C0F4-D238CE39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D271A260-537E-A195-4F3F-E777FEE44C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ABD52160-6DE4-6427-D823-EDB24EDFA7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8171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C6C8A807-D5EF-67DF-E68F-7BE3B7CFD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29444F18-FEA5-1C36-0377-DEB14AABA0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3A80052E-DCE5-2C79-D269-075E32115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84113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E0F67238-955F-40F0-5A64-6B20DDAF2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1FBAA537-5724-CB7E-BB53-6F84C04D0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96D8F1B3-DA1D-5FF5-082D-7010077493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8325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9458C4F4-DD91-BE53-07C2-11BDE02DC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D63E1E7F-60BF-24D6-3138-9E4BD00ABC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93BB356E-6911-6DD1-4F19-A2A008CBD7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221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CBC5FD09-31C6-B13C-53D0-CE4FE547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0A091326-36D1-DE66-659E-36486F0A3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985F68BB-7921-CF1F-2C53-E788A53C35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76713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D9F1DE41-7CAB-EC2E-767F-A4537290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68CEF7E9-4E2D-C45A-7A89-26947355C5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7A405BF8-60D4-33B0-D957-28639237F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85508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AEE6D668-5164-D8FE-8542-A34BF989A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3811905E-14B0-8260-9917-E32FC6A00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D17068F4-BD9A-50CF-C62F-2FF0BD9B4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34667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3BFAA35A-4025-B7D0-5E05-B5D7DDB2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9779D4C6-7EFD-BDEA-2D35-E42CC8CF5F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F80FB7A3-AAAA-EFE1-8E01-729EE99EFC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87284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BE0BBF84-13B2-87FB-FCC4-58BF1A8A0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830590E9-DAEE-2299-2451-3E303B2EB1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121C715F-32AA-1323-5A8A-DCF6051177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098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6059E083-3BCE-9520-1595-5DFB8DD82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D0F74176-43DF-EE4B-74A6-5B5A875B3C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4ACA86D8-9736-FF12-8481-24024ED9C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19568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D3CC98B3-061A-55CE-9318-D3C9CF7AC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56DB036A-9A14-FABF-36BE-F040C7AC0B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51E1BC57-8337-5FC2-97C8-00D6FC05F4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44212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69ADC09A-4442-095B-DB8B-F223A4AD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CF44F3F9-F226-FBB8-9247-53F563260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FCB7F7DA-A705-BFB1-6000-2E86FA74B1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30602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420F0053-629D-5236-8838-C3465004B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C23A7CDC-B1F7-B47F-04BD-724C7E6EE1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92A28812-0D5C-2BE8-CCF9-9AB2E4034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95008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264AE0BE-144B-5839-BB40-7D133ED1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157D4E53-3069-E120-3C9B-CE2E0938D9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BEED3306-09D3-2C8F-2DC4-11EE8E0C22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51478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BF06B3F7-C547-6844-3533-90C8B89A7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023B7FD3-E036-88CF-30D5-D58BCA5A99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18F2870F-B4C5-5950-B81D-D847F3CB15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23622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C929AECE-A9CE-41CB-1908-42CAC67A9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DFFEA2AC-3AFA-1C4C-CB03-99A74E226B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52E21563-0610-5881-B82B-1898C36BB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26039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65E1230C-6A88-7BB0-0F46-C85328C1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E4201A52-D39C-AA2D-1087-169618034B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86839712-722D-A72D-8F4A-B3B2575D8F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7041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9C828659-8AAB-B07E-4226-71B3A9395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4FF46EE1-CE58-347C-A015-705EF5D8D9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597845B8-BEF1-44CB-DC79-E06EB481E7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7051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C030D1EA-30BB-412A-1A2D-FC0A18FEA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04521BA1-CA90-81A5-0511-64DE71B6A7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1534E3B5-7AF7-2818-D1EC-8643966DC0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2482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5B87C1BF-1915-30D9-FF43-E17DFDA8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BC6B00F0-30B4-E61C-DE13-0F07AFE2FA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160654DC-6EA3-E4F5-6636-CFDC49497B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78846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1CF230FB-B411-E23E-D79C-A2F45DA92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04447E37-23FC-E327-0394-90D331657E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7BD115AE-D136-0888-1DF7-25A1543703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64994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CD897560-C82C-DA47-459D-E6A75D021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28D9079F-F16C-6C29-528B-DE2302F3D1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EAF5DD6E-76E0-D745-2C35-1A52F15197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54572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AF04CC88-8A66-71CD-0F47-77191B9C2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B2AA9F97-70B8-3508-9737-3C9AD580CC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7AA2CAC7-4CFF-0688-8779-A5CBBDFEBC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91462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F7C62F19-8C12-B476-1C40-043947A0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8284CA2F-D94F-C172-2DA0-0158B7F4CF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C05B8D2A-2640-EB2C-6235-83AE6B4ADD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76711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E90D324E-EA6B-5E02-B566-CE8278909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D710F0F6-D3B8-87BB-8103-EC44EE5952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6618EA47-99B4-B1C9-59EA-617F5482EC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19219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9E195F26-C65F-C918-19EA-D25AB5B3C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26C53075-2CB6-B918-5B16-43D3A71FF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2CF1BD27-0DA8-47AF-3366-11618AF484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78438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BC327BEB-C3DF-901C-4FB3-63B8AFE84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F231AF7A-BB55-547C-F576-415F3CFD58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3AEE6AEA-61FA-6C76-39CD-8C5F34AE72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11987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737BBF5E-715A-DCDF-BD0D-17D670286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730928124_0_73:notes">
            <a:extLst>
              <a:ext uri="{FF2B5EF4-FFF2-40B4-BE49-F238E27FC236}">
                <a16:creationId xmlns:a16="http://schemas.microsoft.com/office/drawing/2014/main" id="{178BC66D-D1B1-D9A1-689F-086D07A6A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730928124_0_73:notes">
            <a:extLst>
              <a:ext uri="{FF2B5EF4-FFF2-40B4-BE49-F238E27FC236}">
                <a16:creationId xmlns:a16="http://schemas.microsoft.com/office/drawing/2014/main" id="{B00B8A45-AB34-5FD1-8F62-61B9FF93E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55551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940444CF-21EC-936E-2DC5-A9766F47F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6730928124_0_63:notes">
            <a:extLst>
              <a:ext uri="{FF2B5EF4-FFF2-40B4-BE49-F238E27FC236}">
                <a16:creationId xmlns:a16="http://schemas.microsoft.com/office/drawing/2014/main" id="{9F1D7639-789A-7E73-3624-BF69B23CD7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6730928124_0_63:notes">
            <a:extLst>
              <a:ext uri="{FF2B5EF4-FFF2-40B4-BE49-F238E27FC236}">
                <a16:creationId xmlns:a16="http://schemas.microsoft.com/office/drawing/2014/main" id="{A4032161-82CE-BE00-9495-17C182A73E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53272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6730928124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6730928124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17244B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155750" y="1303550"/>
            <a:ext cx="6817800" cy="149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3800"/>
              <a:buNone/>
              <a:defRPr sz="3800">
                <a:solidFill>
                  <a:srgbClr val="EF9B2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3800"/>
              <a:buNone/>
              <a:defRPr sz="3800">
                <a:solidFill>
                  <a:srgbClr val="EF9B2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3800"/>
              <a:buNone/>
              <a:defRPr sz="3800">
                <a:solidFill>
                  <a:srgbClr val="EF9B2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3800"/>
              <a:buNone/>
              <a:defRPr sz="3800">
                <a:solidFill>
                  <a:srgbClr val="EF9B2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3800"/>
              <a:buNone/>
              <a:defRPr sz="3800">
                <a:solidFill>
                  <a:srgbClr val="EF9B2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3800"/>
              <a:buNone/>
              <a:defRPr sz="3800">
                <a:solidFill>
                  <a:srgbClr val="EF9B2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3800"/>
              <a:buNone/>
              <a:defRPr sz="3800">
                <a:solidFill>
                  <a:srgbClr val="EF9B2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3800"/>
              <a:buNone/>
              <a:defRPr sz="3800">
                <a:solidFill>
                  <a:srgbClr val="EF9B2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3800"/>
              <a:buNone/>
              <a:defRPr sz="3800">
                <a:solidFill>
                  <a:srgbClr val="EF9B23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485200" y="2834125"/>
            <a:ext cx="6373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8775" y="382600"/>
            <a:ext cx="307973" cy="25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 amt="10000"/>
          </a:blip>
          <a:srcRect l="-27275" t="-17698" r="-20719" b="-18133"/>
          <a:stretch/>
        </p:blipFill>
        <p:spPr>
          <a:xfrm rot="-217794" flipH="1">
            <a:off x="3737765" y="-530720"/>
            <a:ext cx="7756767" cy="697038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2050925" y="3530825"/>
            <a:ext cx="5359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6000"/>
          </a:blip>
          <a:srcRect l="-32558" t="-24789" r="-15435" b="-11043"/>
          <a:stretch/>
        </p:blipFill>
        <p:spPr>
          <a:xfrm rot="925097">
            <a:off x="5079872" y="147081"/>
            <a:ext cx="6140062" cy="551762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013725" y="1716525"/>
            <a:ext cx="4806300" cy="15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287700" y="4811200"/>
            <a:ext cx="17226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24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#BertalentaDigital</a:t>
            </a:r>
            <a:endParaRPr sz="700">
              <a:solidFill>
                <a:srgbClr val="17244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7146900" y="4811200"/>
            <a:ext cx="17226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rPr>
              <a:t>© Copyright by Digital Skola 2024</a:t>
            </a:r>
            <a:endParaRPr sz="700">
              <a:solidFill>
                <a:srgbClr val="1724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" name="Google Shape;2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775" y="382600"/>
            <a:ext cx="307973" cy="251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 rotWithShape="1">
          <a:blip r:embed="rId2">
            <a:alphaModFix amt="26000"/>
          </a:blip>
          <a:srcRect l="-32558" t="-24789" r="-15435" b="-11043"/>
          <a:stretch/>
        </p:blipFill>
        <p:spPr>
          <a:xfrm rot="925097">
            <a:off x="5079872" y="147081"/>
            <a:ext cx="6140062" cy="551762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/>
        </p:nvSpPr>
        <p:spPr>
          <a:xfrm>
            <a:off x="287700" y="4811200"/>
            <a:ext cx="17226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24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#BertalentaDigital</a:t>
            </a:r>
            <a:endParaRPr sz="700">
              <a:solidFill>
                <a:srgbClr val="17244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775" y="382600"/>
            <a:ext cx="307973" cy="25157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/>
        </p:nvSpPr>
        <p:spPr>
          <a:xfrm>
            <a:off x="7146900" y="4811200"/>
            <a:ext cx="17226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rPr>
              <a:t>© Copyright by Digital Skola 2024</a:t>
            </a:r>
            <a:endParaRPr sz="700">
              <a:solidFill>
                <a:srgbClr val="1724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67954" y="1048915"/>
            <a:ext cx="548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67950" y="2236425"/>
            <a:ext cx="4833600" cy="23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 idx="2"/>
          </p:nvPr>
        </p:nvSpPr>
        <p:spPr>
          <a:xfrm>
            <a:off x="867950" y="1539710"/>
            <a:ext cx="420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2200"/>
              <a:buFont typeface="Poppins Medium"/>
              <a:buNone/>
              <a:defRPr sz="2200" b="0">
                <a:solidFill>
                  <a:srgbClr val="EF9B2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2200"/>
              <a:buFont typeface="Poppins Medium"/>
              <a:buNone/>
              <a:defRPr sz="2200" b="0">
                <a:solidFill>
                  <a:srgbClr val="EF9B2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2200"/>
              <a:buFont typeface="Poppins Medium"/>
              <a:buNone/>
              <a:defRPr sz="2200" b="0">
                <a:solidFill>
                  <a:srgbClr val="EF9B2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2200"/>
              <a:buFont typeface="Poppins Medium"/>
              <a:buNone/>
              <a:defRPr sz="2200" b="0">
                <a:solidFill>
                  <a:srgbClr val="EF9B2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2200"/>
              <a:buFont typeface="Poppins Medium"/>
              <a:buNone/>
              <a:defRPr sz="2200" b="0">
                <a:solidFill>
                  <a:srgbClr val="EF9B2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2200"/>
              <a:buFont typeface="Poppins Medium"/>
              <a:buNone/>
              <a:defRPr sz="2200" b="0">
                <a:solidFill>
                  <a:srgbClr val="EF9B2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2200"/>
              <a:buFont typeface="Poppins Medium"/>
              <a:buNone/>
              <a:defRPr sz="2200" b="0">
                <a:solidFill>
                  <a:srgbClr val="EF9B2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2200"/>
              <a:buFont typeface="Poppins Medium"/>
              <a:buNone/>
              <a:defRPr sz="2200" b="0">
                <a:solidFill>
                  <a:srgbClr val="EF9B2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F9B23"/>
              </a:buClr>
              <a:buSzPts val="2200"/>
              <a:buFont typeface="Poppins Medium"/>
              <a:buNone/>
              <a:defRPr sz="2200" b="0">
                <a:solidFill>
                  <a:srgbClr val="EF9B2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5"/>
          <p:cNvPicPr preferRelativeResize="0"/>
          <p:nvPr/>
        </p:nvPicPr>
        <p:blipFill rotWithShape="1">
          <a:blip r:embed="rId2">
            <a:alphaModFix amt="26000"/>
          </a:blip>
          <a:srcRect l="-32558" t="-24789" r="-15435" b="-11043"/>
          <a:stretch/>
        </p:blipFill>
        <p:spPr>
          <a:xfrm rot="-10192081">
            <a:off x="6049823" y="-876921"/>
            <a:ext cx="4407179" cy="396041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/>
          <p:nvPr/>
        </p:nvSpPr>
        <p:spPr>
          <a:xfrm>
            <a:off x="287700" y="4811200"/>
            <a:ext cx="17226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24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#BertalentaDigital</a:t>
            </a:r>
            <a:endParaRPr sz="700">
              <a:solidFill>
                <a:srgbClr val="17244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2" name="Google Shape;3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775" y="382600"/>
            <a:ext cx="307973" cy="25157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 txBox="1"/>
          <p:nvPr/>
        </p:nvSpPr>
        <p:spPr>
          <a:xfrm>
            <a:off x="7146900" y="4811200"/>
            <a:ext cx="17226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rPr>
              <a:t>© Copyright by Digital Skola 2024</a:t>
            </a:r>
            <a:endParaRPr sz="700">
              <a:solidFill>
                <a:srgbClr val="1724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92700" y="1109340"/>
            <a:ext cx="537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92700" y="1914475"/>
            <a:ext cx="3512400" cy="22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62256" y="1914475"/>
            <a:ext cx="3512400" cy="22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 type="blank">
  <p:cSld name="BLANK">
    <p:bg>
      <p:bgPr>
        <a:solidFill>
          <a:srgbClr val="16234A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2"/>
          <p:cNvPicPr preferRelativeResize="0"/>
          <p:nvPr/>
        </p:nvPicPr>
        <p:blipFill rotWithShape="1">
          <a:blip r:embed="rId2">
            <a:alphaModFix/>
          </a:blip>
          <a:srcRect l="7388" r="19957"/>
          <a:stretch/>
        </p:blipFill>
        <p:spPr>
          <a:xfrm rot="-1559990">
            <a:off x="5719675" y="1962447"/>
            <a:ext cx="4990351" cy="3863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44548" y="1513175"/>
            <a:ext cx="1622105" cy="3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 txBox="1"/>
          <p:nvPr/>
        </p:nvSpPr>
        <p:spPr>
          <a:xfrm>
            <a:off x="2807400" y="2064800"/>
            <a:ext cx="35292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>
                <a:solidFill>
                  <a:srgbClr val="EF9B23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sz="4500" b="1">
              <a:solidFill>
                <a:srgbClr val="EF9B2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2"/>
          <p:cNvSpPr txBox="1"/>
          <p:nvPr/>
        </p:nvSpPr>
        <p:spPr>
          <a:xfrm>
            <a:off x="3644550" y="4719050"/>
            <a:ext cx="18549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© Copyright by Digital Skola 2024</a:t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2"/>
          <p:cNvSpPr txBox="1"/>
          <p:nvPr/>
        </p:nvSpPr>
        <p:spPr>
          <a:xfrm>
            <a:off x="3576375" y="4467350"/>
            <a:ext cx="18549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#BertalentaDigital </a:t>
            </a:r>
            <a:r>
              <a:rPr lang="en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| digitalskola.com</a:t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800"/>
              <a:buFont typeface="Poppins"/>
              <a:buNone/>
              <a:defRPr sz="2800" b="1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800"/>
              <a:buFont typeface="Poppins"/>
              <a:buNone/>
              <a:defRPr sz="2800" b="1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800"/>
              <a:buFont typeface="Poppins"/>
              <a:buNone/>
              <a:defRPr sz="2800" b="1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800"/>
              <a:buFont typeface="Poppins"/>
              <a:buNone/>
              <a:defRPr sz="2800" b="1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800"/>
              <a:buFont typeface="Poppins"/>
              <a:buNone/>
              <a:defRPr sz="2800" b="1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800"/>
              <a:buFont typeface="Poppins"/>
              <a:buNone/>
              <a:defRPr sz="2800" b="1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800"/>
              <a:buFont typeface="Poppins"/>
              <a:buNone/>
              <a:defRPr sz="2800" b="1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800"/>
              <a:buFont typeface="Poppins"/>
              <a:buNone/>
              <a:defRPr sz="2800" b="1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800"/>
              <a:buFont typeface="Poppins"/>
              <a:buNone/>
              <a:defRPr sz="2800" b="1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1800"/>
              <a:buFont typeface="Poppins Medium"/>
              <a:buChar char="●"/>
              <a:defRPr sz="1800">
                <a:solidFill>
                  <a:srgbClr val="17244B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1400"/>
              <a:buFont typeface="Poppins Medium"/>
              <a:buChar char="○"/>
              <a:defRPr>
                <a:solidFill>
                  <a:srgbClr val="17244B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1400"/>
              <a:buFont typeface="Poppins Medium"/>
              <a:buChar char="■"/>
              <a:defRPr>
                <a:solidFill>
                  <a:srgbClr val="17244B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1400"/>
              <a:buFont typeface="Poppins Medium"/>
              <a:buChar char="●"/>
              <a:defRPr>
                <a:solidFill>
                  <a:srgbClr val="17244B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1400"/>
              <a:buFont typeface="Poppins Medium"/>
              <a:buChar char="○"/>
              <a:defRPr>
                <a:solidFill>
                  <a:srgbClr val="17244B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1400"/>
              <a:buFont typeface="Poppins Medium"/>
              <a:buChar char="■"/>
              <a:defRPr>
                <a:solidFill>
                  <a:srgbClr val="17244B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1400"/>
              <a:buFont typeface="Poppins Medium"/>
              <a:buChar char="●"/>
              <a:defRPr>
                <a:solidFill>
                  <a:srgbClr val="17244B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1400"/>
              <a:buFont typeface="Poppins Medium"/>
              <a:buChar char="○"/>
              <a:defRPr>
                <a:solidFill>
                  <a:srgbClr val="17244B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1400"/>
              <a:buFont typeface="Poppins Medium"/>
              <a:buChar char="■"/>
              <a:defRPr>
                <a:solidFill>
                  <a:srgbClr val="17244B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Homebrew/install/HEAD/install.sh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belajar-bareng.onrender.com/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ctrTitle"/>
          </p:nvPr>
        </p:nvSpPr>
        <p:spPr>
          <a:xfrm>
            <a:off x="1155750" y="1303550"/>
            <a:ext cx="6817800" cy="149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rPr>
              <a:t>LOAD TEST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1013725" y="1021556"/>
            <a:ext cx="2458138" cy="9001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Roboto Black" panose="02000000000000000000" pitchFamily="2" charset="0"/>
                <a:ea typeface="Roboto Black" panose="02000000000000000000" pitchFamily="2" charset="0"/>
              </a:rPr>
              <a:t>Materi</a:t>
            </a:r>
            <a:r>
              <a:rPr lang="en-US" dirty="0"/>
              <a:t>:</a:t>
            </a:r>
            <a:br>
              <a:rPr lang="en-US" dirty="0"/>
            </a:br>
            <a:endParaRPr dirty="0"/>
          </a:p>
        </p:txBody>
      </p:sp>
      <p:sp>
        <p:nvSpPr>
          <p:cNvPr id="2" name="Google Shape;114;p16">
            <a:extLst>
              <a:ext uri="{FF2B5EF4-FFF2-40B4-BE49-F238E27FC236}">
                <a16:creationId xmlns:a16="http://schemas.microsoft.com/office/drawing/2014/main" id="{E1DC2C64-DC49-092A-4267-4E9E73A1E4DD}"/>
              </a:ext>
            </a:extLst>
          </p:cNvPr>
          <p:cNvSpPr txBox="1">
            <a:spLocks/>
          </p:cNvSpPr>
          <p:nvPr/>
        </p:nvSpPr>
        <p:spPr>
          <a:xfrm>
            <a:off x="1013725" y="1557338"/>
            <a:ext cx="5620437" cy="256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3600"/>
              <a:buFont typeface="Poppins"/>
              <a:buNone/>
              <a:defRPr sz="3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3600"/>
              <a:buFont typeface="Poppins"/>
              <a:buNone/>
              <a:defRPr sz="3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3600"/>
              <a:buFont typeface="Poppins"/>
              <a:buNone/>
              <a:defRPr sz="3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3600"/>
              <a:buFont typeface="Poppins"/>
              <a:buNone/>
              <a:defRPr sz="3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3600"/>
              <a:buFont typeface="Poppins"/>
              <a:buNone/>
              <a:defRPr sz="3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3600"/>
              <a:buFont typeface="Poppins"/>
              <a:buNone/>
              <a:defRPr sz="3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3600"/>
              <a:buFont typeface="Poppins"/>
              <a:buNone/>
              <a:defRPr sz="3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3600"/>
              <a:buFont typeface="Poppins"/>
              <a:buNone/>
              <a:defRPr sz="3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3600"/>
              <a:buFont typeface="Poppins"/>
              <a:buNone/>
              <a:defRPr sz="3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en-US" sz="2000" b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Perkenalan</a:t>
            </a:r>
            <a:r>
              <a:rPr lang="en-US" sz="20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Load Test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sz="20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Alat Load Test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sz="2000" b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Membuat</a:t>
            </a:r>
            <a:r>
              <a:rPr lang="en-US" sz="20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Script Load Test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sz="2000" b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Implementasi</a:t>
            </a:r>
            <a:r>
              <a:rPr lang="en-US" sz="20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Listener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sz="2000" b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Implementasi</a:t>
            </a:r>
            <a:r>
              <a:rPr lang="en-US" sz="20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Assert 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sz="2000" b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Membuat</a:t>
            </a:r>
            <a:r>
              <a:rPr lang="en-US" sz="20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Report HTML</a:t>
            </a:r>
          </a:p>
          <a:p>
            <a:pPr>
              <a:buSzPct val="100000"/>
            </a:pPr>
            <a:br>
              <a:rPr lang="en-US" sz="2000" dirty="0">
                <a:latin typeface="Roboto Light" panose="02000000000000000000" pitchFamily="2" charset="0"/>
                <a:ea typeface="Roboto Light" panose="02000000000000000000" pitchFamily="2" charset="0"/>
              </a:rPr>
            </a:br>
            <a:endParaRPr lang="en-US" sz="2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605016" y="529007"/>
            <a:ext cx="7296268" cy="7320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sz="2500" b="0" dirty="0" err="1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Perkenalan</a:t>
            </a:r>
            <a:r>
              <a:rPr lang="en-US" sz="25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 Load Test</a:t>
            </a:r>
            <a:br>
              <a:rPr lang="en-US" sz="28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br>
              <a:rPr lang="en-US" sz="2800" b="0" dirty="0">
                <a:latin typeface="Roboto Black" panose="02000000000000000000" pitchFamily="2" charset="0"/>
                <a:ea typeface="Roboto Black" panose="02000000000000000000" pitchFamily="2" charset="0"/>
              </a:rPr>
            </a:br>
            <a:br>
              <a:rPr lang="en-ID" sz="1100" b="1" i="0" dirty="0">
                <a:solidFill>
                  <a:srgbClr val="21212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</a:br>
            <a:br>
              <a:rPr lang="en-US" sz="1100" b="0" dirty="0">
                <a:latin typeface="Roboto Black" panose="02000000000000000000" pitchFamily="2" charset="0"/>
                <a:ea typeface="Roboto Black" panose="02000000000000000000" pitchFamily="2" charset="0"/>
              </a:rPr>
            </a:br>
            <a:br>
              <a:rPr lang="en-US" sz="1100" b="0" dirty="0">
                <a:latin typeface="Roboto Black" panose="02000000000000000000" pitchFamily="2" charset="0"/>
                <a:ea typeface="Roboto Black" panose="02000000000000000000" pitchFamily="2" charset="0"/>
              </a:rPr>
            </a:br>
            <a:endParaRPr sz="11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0CD083-3AE7-D31C-2B45-E71F2C038493}"/>
              </a:ext>
            </a:extLst>
          </p:cNvPr>
          <p:cNvSpPr txBox="1"/>
          <p:nvPr/>
        </p:nvSpPr>
        <p:spPr>
          <a:xfrm>
            <a:off x="605016" y="1123890"/>
            <a:ext cx="3183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Apa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itu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Load Test?</a:t>
            </a:r>
            <a:endParaRPr lang="en-ID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24A9E-3AFD-C19A-8042-785B5C9C207D}"/>
              </a:ext>
            </a:extLst>
          </p:cNvPr>
          <p:cNvSpPr txBox="1"/>
          <p:nvPr/>
        </p:nvSpPr>
        <p:spPr>
          <a:xfrm>
            <a:off x="567692" y="1570004"/>
            <a:ext cx="8008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i="1" dirty="0"/>
              <a:t>performance testing</a:t>
            </a:r>
            <a:r>
              <a:rPr lang="en-ID" dirty="0"/>
              <a:t> yang </a:t>
            </a:r>
            <a:r>
              <a:rPr lang="en-ID" dirty="0" err="1"/>
              <a:t>tujuannya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mengetahui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b="1" dirty="0" err="1"/>
              <a:t>diberi</a:t>
            </a:r>
            <a:r>
              <a:rPr lang="en-ID" b="1" dirty="0"/>
              <a:t> </a:t>
            </a:r>
            <a:r>
              <a:rPr lang="en-ID" b="1" dirty="0" err="1"/>
              <a:t>beban</a:t>
            </a:r>
            <a:r>
              <a:rPr lang="en-ID" b="1" dirty="0"/>
              <a:t> (</a:t>
            </a:r>
            <a:r>
              <a:rPr lang="en-ID" b="1" i="1" dirty="0"/>
              <a:t>load</a:t>
            </a:r>
            <a:r>
              <a:rPr lang="en-ID" b="1" dirty="0"/>
              <a:t>) </a:t>
            </a:r>
            <a:r>
              <a:rPr lang="en-ID" b="1" dirty="0" err="1"/>
              <a:t>tertentu</a:t>
            </a:r>
            <a:r>
              <a:rPr lang="en-ID" dirty="0"/>
              <a:t>.</a:t>
            </a:r>
            <a:endParaRPr lang="en-ID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658D96DE-14F1-A4FC-B948-702123CD0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DF4ECAD0-339C-82C1-F011-CDDE46A569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2700" y="631249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Perkenalan Load Test</a:t>
            </a:r>
            <a:endParaRPr sz="11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14B982-F451-10BF-69B7-55B05FA15798}"/>
              </a:ext>
            </a:extLst>
          </p:cNvPr>
          <p:cNvSpPr txBox="1"/>
          <p:nvPr/>
        </p:nvSpPr>
        <p:spPr>
          <a:xfrm>
            <a:off x="641899" y="1841386"/>
            <a:ext cx="821907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/>
              <a:t>Bayangkan</a:t>
            </a:r>
            <a:r>
              <a:rPr lang="en-ID" dirty="0"/>
              <a:t> </a:t>
            </a:r>
            <a:r>
              <a:rPr lang="en-ID" dirty="0" err="1"/>
              <a:t>kamu</a:t>
            </a:r>
            <a:r>
              <a:rPr lang="en-ID" dirty="0"/>
              <a:t> punya </a:t>
            </a:r>
            <a:r>
              <a:rPr lang="en-ID" dirty="0" err="1"/>
              <a:t>warung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/>
              <a:t>Saat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b="1" dirty="0"/>
              <a:t>1–2 orang</a:t>
            </a:r>
            <a:r>
              <a:rPr lang="en-ID" dirty="0"/>
              <a:t> yang </a:t>
            </a:r>
            <a:r>
              <a:rPr lang="en-ID" dirty="0" err="1"/>
              <a:t>beli</a:t>
            </a:r>
            <a:r>
              <a:rPr lang="en-ID" dirty="0"/>
              <a:t>, </a:t>
            </a:r>
            <a:r>
              <a:rPr lang="en-ID" dirty="0" err="1"/>
              <a:t>kamu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layani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.</a:t>
            </a:r>
          </a:p>
          <a:p>
            <a:r>
              <a:rPr lang="en-ID" dirty="0"/>
              <a:t>Kalau </a:t>
            </a:r>
            <a:r>
              <a:rPr lang="en-ID" dirty="0" err="1"/>
              <a:t>tiba-tiba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b="1" dirty="0"/>
              <a:t>50 orang </a:t>
            </a:r>
            <a:r>
              <a:rPr lang="en-ID" b="1" dirty="0" err="1"/>
              <a:t>datang</a:t>
            </a:r>
            <a:r>
              <a:rPr lang="en-ID" b="1" dirty="0"/>
              <a:t> </a:t>
            </a:r>
            <a:r>
              <a:rPr lang="en-ID" b="1" dirty="0" err="1"/>
              <a:t>sekaligus</a:t>
            </a:r>
            <a:r>
              <a:rPr lang="en-ID" dirty="0"/>
              <a:t>, </a:t>
            </a: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warungmu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melayani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? Atau </a:t>
            </a:r>
            <a:r>
              <a:rPr lang="en-ID" dirty="0" err="1"/>
              <a:t>malah</a:t>
            </a:r>
            <a:r>
              <a:rPr lang="en-ID" dirty="0"/>
              <a:t> </a:t>
            </a:r>
            <a:r>
              <a:rPr lang="en-ID" dirty="0" err="1"/>
              <a:t>jadi</a:t>
            </a:r>
            <a:r>
              <a:rPr lang="en-ID" dirty="0"/>
              <a:t> </a:t>
            </a:r>
            <a:r>
              <a:rPr lang="en-ID" dirty="0" err="1"/>
              <a:t>lambat</a:t>
            </a:r>
            <a:r>
              <a:rPr lang="en-ID" dirty="0"/>
              <a:t>, </a:t>
            </a:r>
            <a:r>
              <a:rPr lang="en-ID" dirty="0" err="1"/>
              <a:t>kacau</a:t>
            </a:r>
            <a:r>
              <a:rPr lang="en-ID" dirty="0"/>
              <a:t>, </a:t>
            </a:r>
            <a:r>
              <a:rPr lang="en-ID" dirty="0" err="1"/>
              <a:t>bahkan</a:t>
            </a:r>
            <a:r>
              <a:rPr lang="en-ID" dirty="0"/>
              <a:t> </a:t>
            </a:r>
            <a:r>
              <a:rPr lang="en-ID" dirty="0" err="1"/>
              <a:t>berhenti</a:t>
            </a:r>
            <a:r>
              <a:rPr lang="en-ID" dirty="0"/>
              <a:t> </a:t>
            </a:r>
            <a:r>
              <a:rPr lang="en-ID" dirty="0" err="1"/>
              <a:t>melayani</a:t>
            </a:r>
            <a:r>
              <a:rPr lang="en-ID" dirty="0"/>
              <a:t>?</a:t>
            </a:r>
          </a:p>
          <a:p>
            <a:endParaRPr lang="en-ID" dirty="0"/>
          </a:p>
          <a:p>
            <a:r>
              <a:rPr lang="en-ID" dirty="0"/>
              <a:t>Nah, load test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b="1" dirty="0" err="1"/>
              <a:t>menguji</a:t>
            </a:r>
            <a:r>
              <a:rPr lang="en-ID" b="1" dirty="0"/>
              <a:t> system(</a:t>
            </a:r>
            <a:r>
              <a:rPr lang="en-ID" b="1" dirty="0" err="1"/>
              <a:t>warung</a:t>
            </a:r>
            <a:r>
              <a:rPr lang="en-ID" b="1" dirty="0"/>
              <a:t>)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banyak</a:t>
            </a:r>
            <a:r>
              <a:rPr lang="en-ID" b="1" dirty="0"/>
              <a:t> “</a:t>
            </a:r>
            <a:r>
              <a:rPr lang="en-ID" b="1" dirty="0" err="1"/>
              <a:t>pengunjung</a:t>
            </a:r>
            <a:r>
              <a:rPr lang="en-ID" b="1" dirty="0"/>
              <a:t>” (user)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bersamaan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:</a:t>
            </a:r>
          </a:p>
          <a:p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b="1" dirty="0" err="1"/>
              <a:t>berjalan</a:t>
            </a:r>
            <a:r>
              <a:rPr lang="en-ID" b="1" dirty="0"/>
              <a:t> normal</a:t>
            </a:r>
            <a:r>
              <a:rPr lang="en-ID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Seberapa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b="1" dirty="0" err="1"/>
              <a:t>responnya</a:t>
            </a:r>
            <a:r>
              <a:rPr lang="en-ID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yang </a:t>
            </a:r>
            <a:r>
              <a:rPr lang="en-ID" dirty="0" err="1"/>
              <a:t>jadi</a:t>
            </a:r>
            <a:r>
              <a:rPr lang="en-ID" dirty="0"/>
              <a:t> </a:t>
            </a:r>
            <a:r>
              <a:rPr lang="en-ID" b="1" dirty="0"/>
              <a:t>bottle-neck</a:t>
            </a:r>
            <a:r>
              <a:rPr lang="en-ID" dirty="0"/>
              <a:t> (</a:t>
            </a:r>
            <a:r>
              <a:rPr lang="en-ID" dirty="0" err="1"/>
              <a:t>misalnya</a:t>
            </a:r>
            <a:r>
              <a:rPr lang="en-ID" dirty="0"/>
              <a:t> server, database,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jaringan</a:t>
            </a:r>
            <a:r>
              <a:rPr lang="en-ID" dirty="0"/>
              <a:t>)?</a:t>
            </a:r>
          </a:p>
        </p:txBody>
      </p:sp>
      <p:sp>
        <p:nvSpPr>
          <p:cNvPr id="2" name="Google Shape;119;p17">
            <a:extLst>
              <a:ext uri="{FF2B5EF4-FFF2-40B4-BE49-F238E27FC236}">
                <a16:creationId xmlns:a16="http://schemas.microsoft.com/office/drawing/2014/main" id="{28239287-BC6D-BF28-6FB8-BF747CD6492A}"/>
              </a:ext>
            </a:extLst>
          </p:cNvPr>
          <p:cNvSpPr txBox="1">
            <a:spLocks/>
          </p:cNvSpPr>
          <p:nvPr/>
        </p:nvSpPr>
        <p:spPr>
          <a:xfrm>
            <a:off x="692700" y="1258983"/>
            <a:ext cx="1883587" cy="43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600" b="0" dirty="0" err="1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Analogi</a:t>
            </a:r>
            <a:r>
              <a:rPr lang="en-US" sz="16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!</a:t>
            </a:r>
            <a:endParaRPr lang="en-US" sz="16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452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1AC8708-F70C-3F1D-6FB7-E100D94E4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3A4178D1-626A-A045-94A3-739F7295FE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2700" y="631249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Perkenalan Load Test</a:t>
            </a:r>
            <a:endParaRPr sz="11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D75326-608F-371F-9927-38715EBD9A01}"/>
              </a:ext>
            </a:extLst>
          </p:cNvPr>
          <p:cNvSpPr txBox="1"/>
          <p:nvPr/>
        </p:nvSpPr>
        <p:spPr>
          <a:xfrm>
            <a:off x="576585" y="1855778"/>
            <a:ext cx="82190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Mengetahui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kapasitas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normal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aplikasi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berapa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user yang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bisa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dilayani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dengan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baik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Mengukur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response time (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cepat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atau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lambatnya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aplikasi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merespons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Mengidentifikasi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masalah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performa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sebelum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terjadi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di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pengguna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nyata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2" name="Google Shape;119;p17">
            <a:extLst>
              <a:ext uri="{FF2B5EF4-FFF2-40B4-BE49-F238E27FC236}">
                <a16:creationId xmlns:a16="http://schemas.microsoft.com/office/drawing/2014/main" id="{D2A1ACBD-B82F-55F2-C005-B8F92FE1B3B3}"/>
              </a:ext>
            </a:extLst>
          </p:cNvPr>
          <p:cNvSpPr txBox="1">
            <a:spLocks/>
          </p:cNvSpPr>
          <p:nvPr/>
        </p:nvSpPr>
        <p:spPr>
          <a:xfrm>
            <a:off x="692700" y="1258983"/>
            <a:ext cx="1883587" cy="43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6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Tujuan Load Test</a:t>
            </a:r>
            <a:endParaRPr lang="en-US" sz="16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02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0FD631B3-EBA1-8173-F99E-CE14648AA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D1535308-7C39-A7A0-D5C1-4E2968A94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516" y="621223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Perkenalan Load Test</a:t>
            </a:r>
            <a:endParaRPr sz="11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4A2952EA-80E0-0AE4-6AA6-AEA7F1A746FB}"/>
              </a:ext>
            </a:extLst>
          </p:cNvPr>
          <p:cNvSpPr txBox="1">
            <a:spLocks/>
          </p:cNvSpPr>
          <p:nvPr/>
        </p:nvSpPr>
        <p:spPr>
          <a:xfrm>
            <a:off x="622516" y="1287574"/>
            <a:ext cx="3320500" cy="66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6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Kapan di </a:t>
            </a:r>
            <a:r>
              <a:rPr lang="en-US" sz="1600" b="0" dirty="0" err="1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lakukan</a:t>
            </a:r>
            <a:r>
              <a:rPr lang="en-US" sz="16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 Load Test</a:t>
            </a:r>
            <a:endParaRPr lang="en-US" sz="16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3E076-6412-26E7-A513-D2B3F66D3A8D}"/>
              </a:ext>
            </a:extLst>
          </p:cNvPr>
          <p:cNvSpPr txBox="1"/>
          <p:nvPr/>
        </p:nvSpPr>
        <p:spPr>
          <a:xfrm>
            <a:off x="629378" y="1821543"/>
            <a:ext cx="82190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Pada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prinsipnya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sebisa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mungkin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performance testing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dilakukan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secara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continuous </a:t>
            </a:r>
          </a:p>
          <a:p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Ada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tanda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tanda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kapan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kita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bisa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untuk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melakukan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load testing</a:t>
            </a:r>
          </a:p>
          <a:p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Memastikan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performance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sebelum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direlease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Ketika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event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tertentu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yang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diproyeksikan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lonjakan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user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Ketika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perubahan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atau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penambahan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komponen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pada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arsitektur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Ketika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feature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baru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atau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perubahan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pada feature yang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memiliki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query pada database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cukup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intense</a:t>
            </a:r>
          </a:p>
        </p:txBody>
      </p:sp>
    </p:spTree>
    <p:extLst>
      <p:ext uri="{BB962C8B-B14F-4D97-AF65-F5344CB8AC3E}">
        <p14:creationId xmlns:p14="http://schemas.microsoft.com/office/powerpoint/2010/main" val="2662929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7169B3AC-76E3-2DE2-9A3B-CCAD76864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53EA2E5F-7876-F04C-0024-75281D2B3E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5271" y="417678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 dirty="0" err="1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Perkenalan</a:t>
            </a:r>
            <a:r>
              <a:rPr lang="en-US" sz="25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 Load Test</a:t>
            </a:r>
            <a:endParaRPr sz="11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B1ED203A-F9CE-DBAF-1357-4313A2578069}"/>
              </a:ext>
            </a:extLst>
          </p:cNvPr>
          <p:cNvSpPr txBox="1">
            <a:spLocks/>
          </p:cNvSpPr>
          <p:nvPr/>
        </p:nvSpPr>
        <p:spPr>
          <a:xfrm>
            <a:off x="765270" y="943051"/>
            <a:ext cx="7261130" cy="878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Metric </a:t>
            </a:r>
            <a:r>
              <a:rPr lang="en-US" sz="1400" b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</a:t>
            </a:r>
            <a:r>
              <a:rPr lang="en-US" sz="14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Performance Test </a:t>
            </a:r>
          </a:p>
          <a:p>
            <a:endParaRPr lang="en-US" sz="14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4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Hal yang </a:t>
            </a:r>
            <a:r>
              <a:rPr lang="en-US" sz="1400" b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dapat</a:t>
            </a:r>
            <a:r>
              <a:rPr lang="en-US" sz="14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400" b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diukur</a:t>
            </a:r>
            <a:r>
              <a:rPr lang="en-US" sz="14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dan </a:t>
            </a:r>
            <a:r>
              <a:rPr lang="en-US" sz="1400" b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perlu</a:t>
            </a:r>
            <a:r>
              <a:rPr lang="en-US" sz="14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400" b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diperhatikan</a:t>
            </a:r>
            <a:r>
              <a:rPr lang="en-US" sz="14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400" b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</a:t>
            </a:r>
            <a:r>
              <a:rPr lang="en-US" sz="14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Performance Test </a:t>
            </a:r>
            <a:r>
              <a:rPr lang="en-US" sz="1400" b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antara</a:t>
            </a:r>
            <a:r>
              <a:rPr lang="en-US" sz="14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lain: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83F2A-DEEC-77C9-8853-D5F11EC6EFF9}"/>
              </a:ext>
            </a:extLst>
          </p:cNvPr>
          <p:cNvSpPr txBox="1"/>
          <p:nvPr/>
        </p:nvSpPr>
        <p:spPr>
          <a:xfrm>
            <a:off x="765270" y="1915888"/>
            <a:ext cx="821907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 </a:t>
            </a:r>
            <a:r>
              <a:rPr lang="en-ID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Response Time (Waktu </a:t>
            </a:r>
            <a:r>
              <a:rPr lang="en-ID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Respon</a:t>
            </a:r>
            <a:r>
              <a:rPr lang="en-ID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</a:t>
            </a:r>
          </a:p>
          <a:p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Waktu yang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dibutuhkan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untuk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merespons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request user. </a:t>
            </a:r>
          </a:p>
          <a:p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 </a:t>
            </a:r>
            <a:r>
              <a:rPr lang="en-ID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Throughput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Jumlah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request yang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bisa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diproses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satuan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RPS(request per second). </a:t>
            </a:r>
          </a:p>
          <a:p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 </a:t>
            </a:r>
            <a:r>
              <a:rPr lang="en-ID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Concurrent Users / Load </a:t>
            </a:r>
          </a:p>
          <a:p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Jumlah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user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aktif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yang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menggunakan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pada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saat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bersamaan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 </a:t>
            </a:r>
            <a:r>
              <a:rPr lang="en-ID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Error Rate </a:t>
            </a:r>
          </a:p>
          <a:p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Persentase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request yang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gagal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contoh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HTTP 500, timeout,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gagal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login,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dsb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</a:t>
            </a:r>
          </a:p>
          <a:p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 </a:t>
            </a:r>
            <a:r>
              <a:rPr lang="en-ID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CPU dan Memory Usage</a:t>
            </a:r>
          </a:p>
        </p:txBody>
      </p:sp>
    </p:spTree>
    <p:extLst>
      <p:ext uri="{BB962C8B-B14F-4D97-AF65-F5344CB8AC3E}">
        <p14:creationId xmlns:p14="http://schemas.microsoft.com/office/powerpoint/2010/main" val="89621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F60A7DAE-1201-E789-78E2-15CE8B8C8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5914819B-474E-6314-B29D-8571DE9D4B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5271" y="417678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 dirty="0" err="1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Perkenalan</a:t>
            </a:r>
            <a:r>
              <a:rPr lang="en-US" sz="25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 Load Test</a:t>
            </a:r>
            <a:endParaRPr sz="11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2FC835F5-0B71-3918-38E1-684702E4D813}"/>
              </a:ext>
            </a:extLst>
          </p:cNvPr>
          <p:cNvSpPr txBox="1">
            <a:spLocks/>
          </p:cNvSpPr>
          <p:nvPr/>
        </p:nvSpPr>
        <p:spPr>
          <a:xfrm>
            <a:off x="765270" y="943051"/>
            <a:ext cx="7261130" cy="41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Jenis Performance Test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CCE992-3637-3386-56D8-5AD12F336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234" y="1357086"/>
            <a:ext cx="6397531" cy="310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07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656668AB-48D2-FEFA-DADB-F87AA6DB6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7E372FB6-51C9-EABB-6752-72B1C1E9C5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5271" y="417678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 dirty="0" err="1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Perkenalan</a:t>
            </a:r>
            <a:r>
              <a:rPr lang="en-US" sz="25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 Load Test</a:t>
            </a:r>
            <a:endParaRPr sz="11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99D01416-A864-2CEF-CA6F-F23E12168F87}"/>
              </a:ext>
            </a:extLst>
          </p:cNvPr>
          <p:cNvSpPr txBox="1">
            <a:spLocks/>
          </p:cNvSpPr>
          <p:nvPr/>
        </p:nvSpPr>
        <p:spPr>
          <a:xfrm>
            <a:off x="765270" y="943051"/>
            <a:ext cx="7261130" cy="41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Jenis Performance Test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02F39A-FE52-150C-67E1-F7486E8B5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921" y="1564503"/>
            <a:ext cx="5721536" cy="279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553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0D5F0371-87FD-FAAC-E1D1-49305A4CB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A326CE0E-25B4-7793-8FED-58605CA900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5271" y="417678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 dirty="0" err="1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Perkenalan</a:t>
            </a:r>
            <a:r>
              <a:rPr lang="en-US" sz="25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 Load Test</a:t>
            </a:r>
            <a:endParaRPr sz="11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F1FCD83F-B25A-096F-A18B-E4CF29A11AFE}"/>
              </a:ext>
            </a:extLst>
          </p:cNvPr>
          <p:cNvSpPr txBox="1">
            <a:spLocks/>
          </p:cNvSpPr>
          <p:nvPr/>
        </p:nvSpPr>
        <p:spPr>
          <a:xfrm>
            <a:off x="765270" y="943051"/>
            <a:ext cx="7261130" cy="41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Jenis Performance Test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BF9638-BD70-A742-FB41-9B530D684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917" y="1499413"/>
            <a:ext cx="5971455" cy="287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949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7D006774-51DD-E6F6-4FF4-19FE689DC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A4752101-86B0-DBF0-4C49-524328A666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5271" y="417678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 dirty="0" err="1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Perkenalan</a:t>
            </a:r>
            <a:r>
              <a:rPr lang="en-US" sz="25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 Load Test</a:t>
            </a:r>
            <a:endParaRPr sz="11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20C09E41-C82A-8976-B1CA-479AD31A8521}"/>
              </a:ext>
            </a:extLst>
          </p:cNvPr>
          <p:cNvSpPr txBox="1">
            <a:spLocks/>
          </p:cNvSpPr>
          <p:nvPr/>
        </p:nvSpPr>
        <p:spPr>
          <a:xfrm>
            <a:off x="765270" y="943051"/>
            <a:ext cx="7261130" cy="41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Load Test Vs Stress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E10FB-29C3-F975-7B07-242F82CC1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42" y="1347448"/>
            <a:ext cx="7493385" cy="337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426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5D8D0D6D-5D27-F1CD-E063-EB05B644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A85BA094-EE84-0D2B-2AAB-18C8F072E0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5271" y="417678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 dirty="0" err="1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Perkenalan</a:t>
            </a:r>
            <a:r>
              <a:rPr lang="en-US" sz="25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 Load Test</a:t>
            </a:r>
            <a:endParaRPr sz="11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392C00BB-9CBE-8BAE-0B1D-4CE802425156}"/>
              </a:ext>
            </a:extLst>
          </p:cNvPr>
          <p:cNvSpPr txBox="1">
            <a:spLocks/>
          </p:cNvSpPr>
          <p:nvPr/>
        </p:nvSpPr>
        <p:spPr>
          <a:xfrm>
            <a:off x="765270" y="943051"/>
            <a:ext cx="7261130" cy="41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/>
              <a:t>Parameter Dasar Load Test di JMeter</a:t>
            </a:r>
            <a:endParaRPr lang="en-US" sz="14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2682B0-BB65-7D8F-3165-EE49753307B5}"/>
              </a:ext>
            </a:extLst>
          </p:cNvPr>
          <p:cNvSpPr txBox="1"/>
          <p:nvPr/>
        </p:nvSpPr>
        <p:spPr>
          <a:xfrm>
            <a:off x="827314" y="1683657"/>
            <a:ext cx="61903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D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Number of Threads (User / VU)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→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berapa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banyak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user virtual. </a:t>
            </a:r>
          </a:p>
          <a:p>
            <a:pPr marL="342900" indent="-342900">
              <a:buFont typeface="+mj-lt"/>
              <a:buAutoNum type="arabicPeriod"/>
            </a:pPr>
            <a:r>
              <a:rPr lang="en-ID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Ramp-up Period 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seberapa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cepat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user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diluncurkan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n-ID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Loop Count 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berapa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kali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tiap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user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mengulangi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skenario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Parameter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Tambahan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ID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Duration (Scheduler)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→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durasi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test (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misalnya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30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menit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23534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B3CCF2E-50CE-8121-6680-36027863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21C5C855-6349-32B8-6AD8-396DC432BD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5271" y="417678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 dirty="0" err="1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Perkenalan</a:t>
            </a:r>
            <a:r>
              <a:rPr lang="en-US" sz="25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 Load Test</a:t>
            </a:r>
            <a:endParaRPr sz="11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5E486459-576D-177A-3787-6D569B71BE5C}"/>
              </a:ext>
            </a:extLst>
          </p:cNvPr>
          <p:cNvSpPr txBox="1">
            <a:spLocks/>
          </p:cNvSpPr>
          <p:nvPr/>
        </p:nvSpPr>
        <p:spPr>
          <a:xfrm>
            <a:off x="765270" y="943051"/>
            <a:ext cx="7261130" cy="41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/>
              <a:t>Parameter Dasar Load Test di JMeter</a:t>
            </a:r>
            <a:endParaRPr lang="en-US" sz="14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FAEB6C-96E1-0362-4F61-482933F371E9}"/>
              </a:ext>
            </a:extLst>
          </p:cNvPr>
          <p:cNvSpPr txBox="1"/>
          <p:nvPr/>
        </p:nvSpPr>
        <p:spPr>
          <a:xfrm>
            <a:off x="827314" y="1683657"/>
            <a:ext cx="2859315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>
                <a:latin typeface="Roboto"/>
                <a:ea typeface="Roboto"/>
                <a:cs typeface="Roboto"/>
              </a:rPr>
              <a:t>C</a:t>
            </a:r>
            <a:r>
              <a:rPr lang="en-ID" b="1" dirty="0" err="1">
                <a:latin typeface="Roboto"/>
                <a:ea typeface="Roboto"/>
                <a:cs typeface="Roboto"/>
              </a:rPr>
              <a:t>ontoh</a:t>
            </a:r>
            <a:r>
              <a:rPr lang="en-ID" b="1" dirty="0">
                <a:latin typeface="Roboto"/>
                <a:ea typeface="Roboto"/>
                <a:cs typeface="Roboto"/>
              </a:rPr>
              <a:t> 1!</a:t>
            </a:r>
            <a:endParaRPr lang="en-ID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ID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Number of Threads (User): 10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Ramp-up Period: 20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Loop Count: 2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374AC-FA5A-8EC8-EDBD-44CE683BEB70}"/>
              </a:ext>
            </a:extLst>
          </p:cNvPr>
          <p:cNvSpPr txBox="1"/>
          <p:nvPr/>
        </p:nvSpPr>
        <p:spPr>
          <a:xfrm>
            <a:off x="3686629" y="1575934"/>
            <a:ext cx="61903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Cara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Bacanya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!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Number of Threads = 10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10 Virtual User yang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disimulasikan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Ramp-up = 20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JMeter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butuh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20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untuk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mengaktifkan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semua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10 user.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artinya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1 user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baru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muncul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setiap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di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dapatkan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dari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20/10 = 2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Loop Count = 2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setiap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user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menjalankan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skenario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test 2 kali.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Jadi total hit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nya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Adalah 10 x 2 = 20 request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840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8093337-CE54-501B-B26C-69EF7736B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F4A34FF3-39BC-E427-9720-BEFBEA4EE6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5271" y="417678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 dirty="0" err="1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Perkenalan</a:t>
            </a:r>
            <a:r>
              <a:rPr lang="en-US" sz="25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 Load Test</a:t>
            </a:r>
            <a:endParaRPr sz="11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6623FD75-3375-880C-6667-A715171C767C}"/>
              </a:ext>
            </a:extLst>
          </p:cNvPr>
          <p:cNvSpPr txBox="1">
            <a:spLocks/>
          </p:cNvSpPr>
          <p:nvPr/>
        </p:nvSpPr>
        <p:spPr>
          <a:xfrm>
            <a:off x="765270" y="943051"/>
            <a:ext cx="7261130" cy="41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/>
              <a:t>Parameter Dasar Load Test di JMeter</a:t>
            </a:r>
            <a:endParaRPr lang="en-US" sz="14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952174-C7E6-9F8C-4CE3-BCF3FA986E14}"/>
              </a:ext>
            </a:extLst>
          </p:cNvPr>
          <p:cNvSpPr txBox="1"/>
          <p:nvPr/>
        </p:nvSpPr>
        <p:spPr>
          <a:xfrm>
            <a:off x="6284685" y="1448365"/>
            <a:ext cx="28593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Simulasi</a:t>
            </a:r>
            <a:r>
              <a:rPr lang="en-ID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!</a:t>
            </a:r>
          </a:p>
          <a:p>
            <a:endParaRPr lang="en-ID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0 → User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pertama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mulai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 → User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kedua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mulai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4 → User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ketiga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mulai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…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20 →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Semua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10 user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sudah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aktif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Masing-masing user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menjalankan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 kali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skenario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A8768-0DA9-0BA2-9C47-10E2D4C1BAFD}"/>
              </a:ext>
            </a:extLst>
          </p:cNvPr>
          <p:cNvSpPr txBox="1"/>
          <p:nvPr/>
        </p:nvSpPr>
        <p:spPr>
          <a:xfrm>
            <a:off x="741505" y="1438049"/>
            <a:ext cx="61903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Cara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Bacanya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!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Number of Threads = 10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10 Virtual User yang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disimulasikan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Ramp-up = 20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JMeter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butuh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20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untuk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mengaktifkan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semua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10 user.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artinya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1 user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baru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muncul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setiap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di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dapatkan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dari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20/10 = 2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Loop Count = 2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setiap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user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menjalankan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skenario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test 2 kali.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Jadi total hit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nya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Adalah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 x 2 = 20 request</a:t>
            </a:r>
            <a:endParaRPr lang="en-ID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680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0A2D2CDC-A7AA-6FE6-8A5A-28996BA95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1CD4C667-8184-8DA5-39AA-26274C6B4C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5271" y="417678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 dirty="0" err="1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Perkenalan</a:t>
            </a:r>
            <a:r>
              <a:rPr lang="en-US" sz="25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 Load Test</a:t>
            </a:r>
            <a:endParaRPr sz="11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F5D32D48-8B92-B37A-282D-2B4DA597781E}"/>
              </a:ext>
            </a:extLst>
          </p:cNvPr>
          <p:cNvSpPr txBox="1">
            <a:spLocks/>
          </p:cNvSpPr>
          <p:nvPr/>
        </p:nvSpPr>
        <p:spPr>
          <a:xfrm>
            <a:off x="765270" y="943051"/>
            <a:ext cx="7261130" cy="41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/>
              <a:t>Parameter Dasar Load Test di JMeter</a:t>
            </a:r>
            <a:endParaRPr lang="en-US" sz="14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CA7E0C-FA2C-9FB7-3A83-55ACAF47C349}"/>
              </a:ext>
            </a:extLst>
          </p:cNvPr>
          <p:cNvSpPr txBox="1"/>
          <p:nvPr/>
        </p:nvSpPr>
        <p:spPr>
          <a:xfrm>
            <a:off x="827314" y="1683657"/>
            <a:ext cx="2859315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>
                <a:latin typeface="Roboto"/>
                <a:ea typeface="Roboto"/>
                <a:cs typeface="Roboto"/>
              </a:rPr>
              <a:t>C</a:t>
            </a:r>
            <a:r>
              <a:rPr lang="en-ID" b="1" dirty="0" err="1">
                <a:latin typeface="Roboto"/>
                <a:ea typeface="Roboto"/>
                <a:cs typeface="Roboto"/>
              </a:rPr>
              <a:t>ontoh</a:t>
            </a:r>
            <a:r>
              <a:rPr lang="en-ID" b="1" dirty="0">
                <a:latin typeface="Roboto"/>
                <a:ea typeface="Roboto"/>
                <a:cs typeface="Roboto"/>
              </a:rPr>
              <a:t> 2!</a:t>
            </a:r>
            <a:endParaRPr lang="en-ID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ID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Number of Threads (User): 10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Ramp-up Period: 20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Loop Count: Forever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Duration: 60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FEE30-B11D-D4C8-8865-ED33A38A9B3A}"/>
              </a:ext>
            </a:extLst>
          </p:cNvPr>
          <p:cNvSpPr txBox="1"/>
          <p:nvPr/>
        </p:nvSpPr>
        <p:spPr>
          <a:xfrm>
            <a:off x="3686629" y="1575934"/>
            <a:ext cx="61903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Cara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Kerjanya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!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JMeter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meluncurkan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10 user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waktu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20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artinya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setiap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1 user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baru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masuk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Setelah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aktif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setiap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user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terus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menjalankan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skenario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berulang-ulang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karena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Loop = Forever). 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berhenti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otomatis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setelah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60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</a:p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meskipun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masih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user yang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seharusnya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lanjut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loop.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49C19E-71C7-B3A9-9EC5-47B14C12C95D}"/>
              </a:ext>
            </a:extLst>
          </p:cNvPr>
          <p:cNvSpPr txBox="1"/>
          <p:nvPr/>
        </p:nvSpPr>
        <p:spPr>
          <a:xfrm>
            <a:off x="827314" y="3395223"/>
            <a:ext cx="61903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Alur!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0 → user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pertama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mulai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20 →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semua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10 user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sudah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aktif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20–60 →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semua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10 user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jalan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bareng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hit request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terus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menerus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60 → test stop.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256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AE8D205C-A276-A435-03B6-A730B7D2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BEE2D029-280E-CB7F-C055-647CA7926D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5271" y="417678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 dirty="0" err="1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Perkenalan</a:t>
            </a:r>
            <a:r>
              <a:rPr lang="en-US" sz="25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 Load Test</a:t>
            </a:r>
            <a:endParaRPr sz="11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D6E11085-D8F4-ACA6-031D-91031D4EE2E5}"/>
              </a:ext>
            </a:extLst>
          </p:cNvPr>
          <p:cNvSpPr txBox="1">
            <a:spLocks/>
          </p:cNvSpPr>
          <p:nvPr/>
        </p:nvSpPr>
        <p:spPr>
          <a:xfrm>
            <a:off x="765270" y="943051"/>
            <a:ext cx="7261130" cy="41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/>
              <a:t>Parameter Dasar Load Test di JMeter</a:t>
            </a:r>
            <a:endParaRPr lang="en-US" sz="14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1C315A-A85C-04E9-0DB3-7A2404AD0020}"/>
              </a:ext>
            </a:extLst>
          </p:cNvPr>
          <p:cNvSpPr txBox="1"/>
          <p:nvPr/>
        </p:nvSpPr>
        <p:spPr>
          <a:xfrm>
            <a:off x="827314" y="1683657"/>
            <a:ext cx="7874000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Bedanya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!</a:t>
            </a:r>
          </a:p>
          <a:p>
            <a:endParaRPr lang="en-US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Kalau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pakai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Loop Count = 2 </a:t>
            </a:r>
          </a:p>
          <a:p>
            <a:r>
              <a:rPr lang="en-ID" dirty="0">
                <a:latin typeface="Roboto"/>
                <a:ea typeface="Roboto"/>
                <a:cs typeface="Roboto"/>
              </a:rPr>
              <a:t>→ </a:t>
            </a:r>
            <a:r>
              <a:rPr lang="en-ID" err="1">
                <a:latin typeface="Roboto"/>
                <a:ea typeface="Roboto"/>
                <a:cs typeface="Roboto"/>
              </a:rPr>
              <a:t>tiap</a:t>
            </a:r>
            <a:r>
              <a:rPr lang="en-ID" dirty="0">
                <a:latin typeface="Roboto"/>
                <a:ea typeface="Roboto"/>
                <a:cs typeface="Roboto"/>
              </a:rPr>
              <a:t> user </a:t>
            </a:r>
            <a:r>
              <a:rPr lang="en-ID" err="1">
                <a:latin typeface="Roboto"/>
                <a:ea typeface="Roboto"/>
                <a:cs typeface="Roboto"/>
              </a:rPr>
              <a:t>hanya</a:t>
            </a:r>
            <a:r>
              <a:rPr lang="en-ID" b="1" dirty="0">
                <a:latin typeface="Roboto"/>
                <a:ea typeface="Roboto"/>
                <a:cs typeface="Roboto"/>
              </a:rPr>
              <a:t> </a:t>
            </a:r>
            <a:r>
              <a:rPr lang="en-ID" b="1" err="1">
                <a:latin typeface="Roboto"/>
                <a:ea typeface="Roboto"/>
                <a:cs typeface="Roboto"/>
              </a:rPr>
              <a:t>jalan</a:t>
            </a:r>
            <a:r>
              <a:rPr lang="en-ID" b="1" dirty="0">
                <a:latin typeface="Roboto"/>
                <a:ea typeface="Roboto"/>
                <a:cs typeface="Roboto"/>
              </a:rPr>
              <a:t> 2 kali</a:t>
            </a:r>
            <a:r>
              <a:rPr lang="en-ID" dirty="0">
                <a:latin typeface="Roboto"/>
                <a:ea typeface="Roboto"/>
                <a:cs typeface="Roboto"/>
              </a:rPr>
              <a:t>, test </a:t>
            </a:r>
            <a:r>
              <a:rPr lang="en-ID" err="1">
                <a:latin typeface="Roboto"/>
                <a:ea typeface="Roboto"/>
                <a:cs typeface="Roboto"/>
              </a:rPr>
              <a:t>bisa</a:t>
            </a:r>
            <a:r>
              <a:rPr lang="en-ID" dirty="0">
                <a:latin typeface="Roboto"/>
                <a:ea typeface="Roboto"/>
                <a:cs typeface="Roboto"/>
              </a:rPr>
              <a:t> </a:t>
            </a:r>
            <a:r>
              <a:rPr lang="en-ID" err="1">
                <a:latin typeface="Roboto"/>
                <a:ea typeface="Roboto"/>
                <a:cs typeface="Roboto"/>
              </a:rPr>
              <a:t>selesai</a:t>
            </a:r>
            <a:r>
              <a:rPr lang="en-ID" dirty="0">
                <a:latin typeface="Roboto"/>
                <a:ea typeface="Roboto"/>
                <a:cs typeface="Roboto"/>
              </a:rPr>
              <a:t> </a:t>
            </a:r>
            <a:r>
              <a:rPr lang="en-ID" err="1">
                <a:latin typeface="Roboto"/>
                <a:ea typeface="Roboto"/>
                <a:cs typeface="Roboto"/>
              </a:rPr>
              <a:t>cepat</a:t>
            </a:r>
            <a:r>
              <a:rPr lang="en-ID" dirty="0">
                <a:latin typeface="Roboto"/>
                <a:ea typeface="Roboto"/>
                <a:cs typeface="Roboto"/>
              </a:rPr>
              <a:t> (</a:t>
            </a:r>
            <a:r>
              <a:rPr lang="en-ID" err="1">
                <a:latin typeface="Roboto"/>
                <a:ea typeface="Roboto"/>
                <a:cs typeface="Roboto"/>
              </a:rPr>
              <a:t>tergantung</a:t>
            </a:r>
            <a:r>
              <a:rPr lang="en-ID" dirty="0">
                <a:latin typeface="Roboto"/>
                <a:ea typeface="Roboto"/>
                <a:cs typeface="Roboto"/>
              </a:rPr>
              <a:t> </a:t>
            </a:r>
            <a:r>
              <a:rPr lang="en-ID" err="1">
                <a:latin typeface="Roboto"/>
                <a:ea typeface="Roboto"/>
                <a:cs typeface="Roboto"/>
              </a:rPr>
              <a:t>skenario</a:t>
            </a:r>
            <a:r>
              <a:rPr lang="en-ID" dirty="0">
                <a:latin typeface="Roboto"/>
                <a:ea typeface="Roboto"/>
                <a:cs typeface="Roboto"/>
              </a:rPr>
              <a:t>).</a:t>
            </a:r>
          </a:p>
          <a:p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Kalau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pakai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Duration = 60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detik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r>
              <a:rPr lang="en-ID" dirty="0">
                <a:latin typeface="Roboto"/>
                <a:ea typeface="Roboto"/>
                <a:cs typeface="Roboto"/>
              </a:rPr>
              <a:t>→ </a:t>
            </a:r>
            <a:r>
              <a:rPr lang="en-ID" err="1">
                <a:latin typeface="Roboto"/>
                <a:ea typeface="Roboto"/>
                <a:cs typeface="Roboto"/>
              </a:rPr>
              <a:t>tiap</a:t>
            </a:r>
            <a:r>
              <a:rPr lang="en-ID" dirty="0">
                <a:latin typeface="Roboto"/>
                <a:ea typeface="Roboto"/>
                <a:cs typeface="Roboto"/>
              </a:rPr>
              <a:t> user </a:t>
            </a:r>
            <a:r>
              <a:rPr lang="en-ID" err="1">
                <a:latin typeface="Roboto"/>
                <a:ea typeface="Roboto"/>
                <a:cs typeface="Roboto"/>
              </a:rPr>
              <a:t>akan</a:t>
            </a:r>
            <a:r>
              <a:rPr lang="en-ID" dirty="0">
                <a:latin typeface="Roboto"/>
                <a:ea typeface="Roboto"/>
                <a:cs typeface="Roboto"/>
              </a:rPr>
              <a:t> </a:t>
            </a:r>
            <a:r>
              <a:rPr lang="en-ID" b="1" err="1">
                <a:latin typeface="Roboto"/>
                <a:ea typeface="Roboto"/>
                <a:cs typeface="Roboto"/>
              </a:rPr>
              <a:t>jalan</a:t>
            </a:r>
            <a:r>
              <a:rPr lang="en-ID" b="1" dirty="0">
                <a:latin typeface="Roboto"/>
                <a:ea typeface="Roboto"/>
                <a:cs typeface="Roboto"/>
              </a:rPr>
              <a:t> </a:t>
            </a:r>
            <a:r>
              <a:rPr lang="en-ID" b="1" err="1">
                <a:latin typeface="Roboto"/>
                <a:ea typeface="Roboto"/>
                <a:cs typeface="Roboto"/>
              </a:rPr>
              <a:t>sebanyak</a:t>
            </a:r>
            <a:r>
              <a:rPr lang="en-ID" b="1" dirty="0">
                <a:latin typeface="Roboto"/>
                <a:ea typeface="Roboto"/>
                <a:cs typeface="Roboto"/>
              </a:rPr>
              <a:t> </a:t>
            </a:r>
            <a:r>
              <a:rPr lang="en-ID" b="1" err="1">
                <a:latin typeface="Roboto"/>
                <a:ea typeface="Roboto"/>
                <a:cs typeface="Roboto"/>
              </a:rPr>
              <a:t>mungkin</a:t>
            </a:r>
            <a:r>
              <a:rPr lang="en-ID" dirty="0">
                <a:latin typeface="Roboto"/>
                <a:ea typeface="Roboto"/>
                <a:cs typeface="Roboto"/>
              </a:rPr>
              <a:t> </a:t>
            </a:r>
            <a:r>
              <a:rPr lang="en-ID" err="1">
                <a:latin typeface="Roboto"/>
                <a:ea typeface="Roboto"/>
                <a:cs typeface="Roboto"/>
              </a:rPr>
              <a:t>selama</a:t>
            </a:r>
            <a:r>
              <a:rPr lang="en-ID" dirty="0">
                <a:latin typeface="Roboto"/>
                <a:ea typeface="Roboto"/>
                <a:cs typeface="Roboto"/>
              </a:rPr>
              <a:t> 1 </a:t>
            </a:r>
            <a:r>
              <a:rPr lang="en-ID" err="1">
                <a:latin typeface="Roboto"/>
                <a:ea typeface="Roboto"/>
                <a:cs typeface="Roboto"/>
              </a:rPr>
              <a:t>menit</a:t>
            </a:r>
            <a:r>
              <a:rPr lang="en-ID" dirty="0">
                <a:latin typeface="Roboto"/>
                <a:ea typeface="Roboto"/>
                <a:cs typeface="Roboto"/>
              </a:rPr>
              <a:t>, </a:t>
            </a:r>
            <a:r>
              <a:rPr lang="en-ID" err="1">
                <a:latin typeface="Roboto"/>
                <a:ea typeface="Roboto"/>
                <a:cs typeface="Roboto"/>
              </a:rPr>
              <a:t>jumlah</a:t>
            </a:r>
            <a:r>
              <a:rPr lang="en-ID" dirty="0">
                <a:latin typeface="Roboto"/>
                <a:ea typeface="Roboto"/>
                <a:cs typeface="Roboto"/>
              </a:rPr>
              <a:t> hit </a:t>
            </a:r>
            <a:r>
              <a:rPr lang="en-ID" err="1">
                <a:latin typeface="Roboto"/>
                <a:ea typeface="Roboto"/>
                <a:cs typeface="Roboto"/>
              </a:rPr>
              <a:t>bisa</a:t>
            </a:r>
            <a:r>
              <a:rPr lang="en-ID" dirty="0">
                <a:latin typeface="Roboto"/>
                <a:ea typeface="Roboto"/>
                <a:cs typeface="Roboto"/>
              </a:rPr>
              <a:t> </a:t>
            </a:r>
            <a:r>
              <a:rPr lang="en-ID" err="1">
                <a:latin typeface="Roboto"/>
                <a:ea typeface="Roboto"/>
                <a:cs typeface="Roboto"/>
              </a:rPr>
              <a:t>lebih</a:t>
            </a:r>
            <a:r>
              <a:rPr lang="en-ID" dirty="0">
                <a:latin typeface="Roboto"/>
                <a:ea typeface="Roboto"/>
                <a:cs typeface="Roboto"/>
              </a:rPr>
              <a:t> </a:t>
            </a:r>
            <a:r>
              <a:rPr lang="en-ID" err="1">
                <a:latin typeface="Roboto"/>
                <a:ea typeface="Roboto"/>
                <a:cs typeface="Roboto"/>
              </a:rPr>
              <a:t>banyak</a:t>
            </a:r>
            <a:r>
              <a:rPr lang="en-ID" dirty="0">
                <a:latin typeface="Roboto"/>
                <a:ea typeface="Roboto"/>
                <a:cs typeface="Robot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5845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CD74FBF-7215-F29B-3CB9-66CFF758D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07E888DA-8CCB-85E9-56E8-BDFDB5DF2D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5271" y="417678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 dirty="0">
                <a:latin typeface="Roboto Black"/>
                <a:ea typeface="Roboto Black"/>
                <a:cs typeface="Roboto"/>
              </a:rPr>
              <a:t>Alat Load Test</a:t>
            </a:r>
            <a:endParaRPr sz="1100" dirty="0">
              <a:latin typeface="Roboto Black"/>
              <a:ea typeface="Roboto Black"/>
              <a:cs typeface="Roboto"/>
            </a:endParaRPr>
          </a:p>
        </p:txBody>
      </p:sp>
      <p:pic>
        <p:nvPicPr>
          <p:cNvPr id="3" name="Picture 2" descr="A black and red text on a white background&#10;&#10;AI-generated content may be incorrect.">
            <a:extLst>
              <a:ext uri="{FF2B5EF4-FFF2-40B4-BE49-F238E27FC236}">
                <a16:creationId xmlns:a16="http://schemas.microsoft.com/office/drawing/2014/main" id="{61844B25-295D-486F-54B7-F1FBD0FA3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" y="2033588"/>
            <a:ext cx="2180223" cy="1076325"/>
          </a:xfrm>
          <a:prstGeom prst="rect">
            <a:avLst/>
          </a:prstGeom>
        </p:spPr>
      </p:pic>
      <p:pic>
        <p:nvPicPr>
          <p:cNvPr id="5" name="Picture 4" descr="A purple triangle with white text&#10;&#10;AI-generated content may be incorrect.">
            <a:extLst>
              <a:ext uri="{FF2B5EF4-FFF2-40B4-BE49-F238E27FC236}">
                <a16:creationId xmlns:a16="http://schemas.microsoft.com/office/drawing/2014/main" id="{3B0BDFD7-53DD-48AD-B99B-C2786BF97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7515" y="1952375"/>
            <a:ext cx="1032210" cy="1078331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F0246-5CF4-3A8D-E686-1C470E426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8652" y="2038350"/>
            <a:ext cx="2590800" cy="926432"/>
          </a:xfrm>
          <a:prstGeom prst="rect">
            <a:avLst/>
          </a:prstGeom>
        </p:spPr>
      </p:pic>
      <p:pic>
        <p:nvPicPr>
          <p:cNvPr id="7" name="Picture 6" descr="A grey and black logo&#10;&#10;AI-generated content may be incorrect.">
            <a:extLst>
              <a:ext uri="{FF2B5EF4-FFF2-40B4-BE49-F238E27FC236}">
                <a16:creationId xmlns:a16="http://schemas.microsoft.com/office/drawing/2014/main" id="{4AD062F9-BBE8-572B-E6F7-ADEBF285F9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5468" y="2195513"/>
            <a:ext cx="2190750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438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5BED853D-9494-529F-DCC0-8EE730EAE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469C20CC-ACE1-04D3-CF18-1205CD5043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5008" y="778625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 dirty="0">
                <a:latin typeface="Roboto Black"/>
                <a:ea typeface="Roboto Black"/>
                <a:cs typeface="Roboto"/>
              </a:rPr>
              <a:t>Apa </a:t>
            </a:r>
            <a:r>
              <a:rPr lang="en-US" sz="2500" b="0" dirty="0" err="1">
                <a:latin typeface="Roboto Black"/>
                <a:ea typeface="Roboto Black"/>
                <a:cs typeface="Roboto"/>
              </a:rPr>
              <a:t>itu</a:t>
            </a:r>
            <a:r>
              <a:rPr lang="en-US" sz="2500" b="0" dirty="0">
                <a:latin typeface="Roboto Black"/>
                <a:ea typeface="Roboto Black"/>
                <a:cs typeface="Roboto"/>
              </a:rPr>
              <a:t> JMeter?</a:t>
            </a:r>
            <a:endParaRPr lang="en-US" dirty="0"/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7B409582-9E0C-BD26-8976-261B5B732B48}"/>
              </a:ext>
            </a:extLst>
          </p:cNvPr>
          <p:cNvSpPr txBox="1">
            <a:spLocks/>
          </p:cNvSpPr>
          <p:nvPr/>
        </p:nvSpPr>
        <p:spPr>
          <a:xfrm>
            <a:off x="3153541" y="1552656"/>
            <a:ext cx="5982914" cy="1683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JMeter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adalah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sebuah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Roboto"/>
                <a:ea typeface="Roboto Black"/>
              </a:rPr>
              <a:t>performance test tools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yang</a:t>
            </a:r>
            <a:endParaRPr lang="en-US" sz="1400">
              <a:solidFill>
                <a:schemeClr val="tx1"/>
              </a:solidFill>
              <a:latin typeface="Roboto"/>
            </a:endParaRPr>
          </a:p>
          <a:p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dapat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membantu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untuk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melakukan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pengukuran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dan</a:t>
            </a:r>
            <a:endParaRPr lang="en-US" sz="1400">
              <a:solidFill>
                <a:schemeClr val="tx1"/>
              </a:solidFill>
              <a:latin typeface="Roboto"/>
            </a:endParaRPr>
          </a:p>
          <a:p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analisa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performance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dari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sebuah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sistem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.</a:t>
            </a:r>
          </a:p>
          <a:p>
            <a:endParaRPr lang="en-US" sz="1400" b="0" dirty="0">
              <a:solidFill>
                <a:schemeClr val="tx1"/>
              </a:solidFill>
              <a:latin typeface="Roboto"/>
              <a:ea typeface="Roboto Black"/>
            </a:endParaRPr>
          </a:p>
          <a:p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Jmeter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adalah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aplikasi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Java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murni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100% yang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dirancang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untuk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menguji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beban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perilaku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fungsional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dan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mengukur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kinerja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.</a:t>
            </a:r>
            <a:endParaRPr lang="en-US" sz="1400">
              <a:solidFill>
                <a:schemeClr val="tx1"/>
              </a:solidFill>
              <a:latin typeface="Roboto"/>
            </a:endParaRPr>
          </a:p>
        </p:txBody>
      </p:sp>
      <p:pic>
        <p:nvPicPr>
          <p:cNvPr id="9" name="Picture 8" descr="A black and red text on a white background&#10;&#10;AI-generated content may be incorrect.">
            <a:extLst>
              <a:ext uri="{FF2B5EF4-FFF2-40B4-BE49-F238E27FC236}">
                <a16:creationId xmlns:a16="http://schemas.microsoft.com/office/drawing/2014/main" id="{6ECD5F4D-C721-8F05-B1B8-D0A0CE317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94" y="1802983"/>
            <a:ext cx="2180223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18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94088876-C651-FA85-F74A-CA69DED54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047F930F-86B1-5565-AF87-5DC9B6A4FE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5008" y="778625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 dirty="0">
                <a:latin typeface="Roboto Black"/>
                <a:ea typeface="Roboto Black"/>
                <a:cs typeface="Roboto"/>
              </a:rPr>
              <a:t>Download JMeter!</a:t>
            </a:r>
            <a:endParaRPr lang="en-US" dirty="0"/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0E79032F-E6C1-A968-E3B4-A3715B46B155}"/>
              </a:ext>
            </a:extLst>
          </p:cNvPr>
          <p:cNvSpPr txBox="1">
            <a:spLocks/>
          </p:cNvSpPr>
          <p:nvPr/>
        </p:nvSpPr>
        <p:spPr>
          <a:xfrm>
            <a:off x="667015" y="1432340"/>
            <a:ext cx="5982914" cy="1683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342900" indent="-342900">
              <a:buAutoNum type="arabicPeriod"/>
            </a:pP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Download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Jmeter</a:t>
            </a:r>
          </a:p>
          <a:p>
            <a:r>
              <a:rPr lang="en-US" sz="1400" b="0" dirty="0">
                <a:solidFill>
                  <a:schemeClr val="tx1"/>
                </a:solidFill>
                <a:ea typeface="Roboto Black"/>
              </a:rPr>
              <a:t>        https://jmeter.apache.org/</a:t>
            </a:r>
            <a:endParaRPr lang="en-US" sz="1400" b="0" dirty="0">
              <a:solidFill>
                <a:schemeClr val="tx1"/>
              </a:solidFill>
              <a:latin typeface="Roboto"/>
              <a:ea typeface="Roboto Black"/>
            </a:endParaRPr>
          </a:p>
          <a:p>
            <a:pPr marL="342900" indent="-342900">
              <a:buAutoNum type="arabicPeriod"/>
            </a:pPr>
            <a:endParaRPr lang="en-US" sz="1400" b="0" dirty="0">
              <a:solidFill>
                <a:schemeClr val="tx1"/>
              </a:solidFill>
              <a:latin typeface="Roboto"/>
              <a:ea typeface="Roboto Black"/>
            </a:endParaRPr>
          </a:p>
          <a:p>
            <a:pPr marL="342900" indent="-342900">
              <a:buAutoNum type="arabicPeriod"/>
            </a:pPr>
            <a:endParaRPr lang="en-US" sz="1400" b="0" dirty="0">
              <a:solidFill>
                <a:schemeClr val="tx1"/>
              </a:solidFill>
              <a:latin typeface="Roboto"/>
              <a:ea typeface="Roboto Black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BA4694-4935-97E9-64B7-191183C4F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053" y="2352294"/>
            <a:ext cx="3609475" cy="1541807"/>
          </a:xfrm>
          <a:prstGeom prst="rect">
            <a:avLst/>
          </a:prstGeom>
        </p:spPr>
      </p:pic>
      <p:sp>
        <p:nvSpPr>
          <p:cNvPr id="6" name="Google Shape;119;p17">
            <a:extLst>
              <a:ext uri="{FF2B5EF4-FFF2-40B4-BE49-F238E27FC236}">
                <a16:creationId xmlns:a16="http://schemas.microsoft.com/office/drawing/2014/main" id="{0E79032F-E6C1-A968-E3B4-A3715B46B155}"/>
              </a:ext>
            </a:extLst>
          </p:cNvPr>
          <p:cNvSpPr txBox="1">
            <a:spLocks/>
          </p:cNvSpPr>
          <p:nvPr/>
        </p:nvSpPr>
        <p:spPr>
          <a:xfrm>
            <a:off x="667015" y="1432340"/>
            <a:ext cx="5982914" cy="1683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342900" indent="-342900">
              <a:buAutoNum type="arabicPeriod"/>
            </a:pP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Download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Jmeter</a:t>
            </a:r>
          </a:p>
          <a:p>
            <a:r>
              <a:rPr lang="en-US" sz="1400" b="0" dirty="0">
                <a:solidFill>
                  <a:schemeClr val="tx1"/>
                </a:solidFill>
                <a:ea typeface="Roboto Black"/>
              </a:rPr>
              <a:t>        https://jmeter.apache.org/</a:t>
            </a:r>
            <a:endParaRPr lang="en-US" sz="1400" b="0" dirty="0">
              <a:solidFill>
                <a:schemeClr val="tx1"/>
              </a:solidFill>
              <a:latin typeface="Roboto"/>
              <a:ea typeface="Roboto Black"/>
            </a:endParaRPr>
          </a:p>
          <a:p>
            <a:pPr marL="342900" indent="-342900">
              <a:buAutoNum type="arabicPeriod"/>
            </a:pPr>
            <a:endParaRPr lang="en-US" sz="1400" b="0" dirty="0">
              <a:solidFill>
                <a:schemeClr val="tx1"/>
              </a:solidFill>
              <a:latin typeface="Roboto"/>
              <a:ea typeface="Roboto Black"/>
            </a:endParaRPr>
          </a:p>
          <a:p>
            <a:pPr marL="342900" indent="-342900">
              <a:buAutoNum type="arabicPeriod"/>
            </a:pPr>
            <a:endParaRPr lang="en-US" sz="1400" b="0" dirty="0">
              <a:solidFill>
                <a:schemeClr val="tx1"/>
              </a:solidFill>
              <a:latin typeface="Roboto"/>
              <a:ea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1538363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1FA0269-559C-2B8A-5335-83E1A0D15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ADA4F4FB-7618-6B92-BC4C-A7566B8564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4034" y="778625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500" b="0" dirty="0">
                <a:latin typeface="Roboto Black"/>
                <a:ea typeface="Roboto Black"/>
                <a:cs typeface="Roboto"/>
              </a:rPr>
              <a:t>Download JMeter!</a:t>
            </a:r>
            <a:endParaRPr lang="en-US" dirty="0"/>
          </a:p>
        </p:txBody>
      </p:sp>
      <p:sp>
        <p:nvSpPr>
          <p:cNvPr id="3" name="Google Shape;119;p17">
            <a:extLst>
              <a:ext uri="{FF2B5EF4-FFF2-40B4-BE49-F238E27FC236}">
                <a16:creationId xmlns:a16="http://schemas.microsoft.com/office/drawing/2014/main" id="{2CC52BBD-1466-127C-BA37-4756131A4E9E}"/>
              </a:ext>
            </a:extLst>
          </p:cNvPr>
          <p:cNvSpPr txBox="1">
            <a:spLocks/>
          </p:cNvSpPr>
          <p:nvPr/>
        </p:nvSpPr>
        <p:spPr>
          <a:xfrm>
            <a:off x="416357" y="1281944"/>
            <a:ext cx="8098466" cy="208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Bagi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Pengguna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Mac</a:t>
            </a:r>
          </a:p>
          <a:p>
            <a:endParaRPr lang="en-US" sz="1400" b="0" dirty="0">
              <a:solidFill>
                <a:schemeClr val="tx1"/>
              </a:solidFill>
              <a:latin typeface="Roboto"/>
              <a:ea typeface="Roboto Black"/>
            </a:endParaRPr>
          </a:p>
          <a:p>
            <a:pPr marL="342900" indent="-342900">
              <a:buAutoNum type="arabicPeriod"/>
            </a:pP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Pastikan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sudah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install homebrew, kalo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belum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:</a:t>
            </a:r>
          </a:p>
          <a:p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      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/bin/bash -c "$(curl -</a:t>
            </a:r>
            <a:r>
              <a:rPr lang="en-US" sz="1200" b="0" err="1">
                <a:solidFill>
                  <a:schemeClr val="tx1"/>
                </a:solidFill>
                <a:latin typeface="Roboto"/>
                <a:ea typeface="Roboto Black"/>
              </a:rPr>
              <a:t>fsSL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https://raw.githubusercontent.com/Homebrew/install/HEAD/install.sh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)"</a:t>
            </a:r>
          </a:p>
          <a:p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2.    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Pastikan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Java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sudah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ter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install,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jika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belum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:</a:t>
            </a:r>
          </a:p>
          <a:p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       brew install openjdk@11</a:t>
            </a:r>
          </a:p>
          <a:p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3.     Install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Jmeter</a:t>
            </a:r>
            <a:endParaRPr lang="en-US" sz="1400" b="0" dirty="0">
              <a:solidFill>
                <a:schemeClr val="tx1"/>
              </a:solidFill>
              <a:latin typeface="Roboto"/>
              <a:ea typeface="Roboto Black"/>
            </a:endParaRPr>
          </a:p>
          <a:p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       brew install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jmeter</a:t>
            </a:r>
          </a:p>
          <a:p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4.    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jmeter</a:t>
            </a:r>
            <a:endParaRPr lang="en-US" sz="1400" b="0" dirty="0">
              <a:solidFill>
                <a:schemeClr val="tx1"/>
              </a:solidFill>
              <a:latin typeface="Roboto"/>
              <a:ea typeface="Roboto Black"/>
            </a:endParaRPr>
          </a:p>
          <a:p>
            <a:pPr marL="342900" indent="-342900">
              <a:buAutoNum type="arabicPeriod"/>
            </a:pPr>
            <a:endParaRPr lang="en-US" sz="1400" b="0" dirty="0">
              <a:solidFill>
                <a:schemeClr val="tx1"/>
              </a:solidFill>
              <a:latin typeface="Roboto"/>
              <a:ea typeface="Roboto Black"/>
            </a:endParaRPr>
          </a:p>
        </p:txBody>
      </p:sp>
      <p:sp>
        <p:nvSpPr>
          <p:cNvPr id="2" name="Google Shape;119;p17">
            <a:extLst>
              <a:ext uri="{FF2B5EF4-FFF2-40B4-BE49-F238E27FC236}">
                <a16:creationId xmlns:a16="http://schemas.microsoft.com/office/drawing/2014/main" id="{532FD322-58E0-02EC-AA28-C4C79DB494BC}"/>
              </a:ext>
            </a:extLst>
          </p:cNvPr>
          <p:cNvSpPr txBox="1">
            <a:spLocks/>
          </p:cNvSpPr>
          <p:nvPr/>
        </p:nvSpPr>
        <p:spPr>
          <a:xfrm>
            <a:off x="416356" y="3638129"/>
            <a:ext cx="8098466" cy="821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200" b="0" err="1">
                <a:solidFill>
                  <a:schemeClr val="tx1"/>
                </a:solidFill>
                <a:latin typeface="Roboto"/>
                <a:ea typeface="Roboto Black"/>
              </a:rPr>
              <a:t>Catatan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1200" b="0" err="1">
                <a:solidFill>
                  <a:schemeClr val="tx1"/>
                </a:solidFill>
                <a:latin typeface="Roboto"/>
                <a:ea typeface="Roboto Black"/>
              </a:rPr>
              <a:t>Untuk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200" b="0" err="1">
                <a:solidFill>
                  <a:schemeClr val="tx1"/>
                </a:solidFill>
                <a:latin typeface="Roboto"/>
                <a:ea typeface="Roboto Black"/>
              </a:rPr>
              <a:t>mengecek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 java version: java –version</a:t>
            </a:r>
          </a:p>
          <a:p>
            <a:pPr marL="285750" indent="-285750">
              <a:buFont typeface="Arial"/>
              <a:buChar char="•"/>
            </a:pPr>
            <a:r>
              <a:rPr lang="en-US" sz="1200" b="0" err="1">
                <a:solidFill>
                  <a:schemeClr val="tx1"/>
                </a:solidFill>
                <a:latin typeface="Roboto"/>
                <a:ea typeface="Roboto Black"/>
              </a:rPr>
              <a:t>Untuk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200" b="0" err="1">
                <a:solidFill>
                  <a:schemeClr val="tx1"/>
                </a:solidFill>
                <a:latin typeface="Roboto"/>
                <a:ea typeface="Roboto Black"/>
              </a:rPr>
              <a:t>mengecek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200" b="0" err="1">
                <a:solidFill>
                  <a:schemeClr val="tx1"/>
                </a:solidFill>
                <a:latin typeface="Roboto"/>
                <a:ea typeface="Roboto Black"/>
              </a:rPr>
              <a:t>jmeter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 version: </a:t>
            </a:r>
            <a:r>
              <a:rPr lang="en-US" sz="1200" b="0" err="1">
                <a:solidFill>
                  <a:schemeClr val="tx1"/>
                </a:solidFill>
                <a:latin typeface="Roboto"/>
                <a:ea typeface="Roboto Black"/>
              </a:rPr>
              <a:t>jmeter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 –version</a:t>
            </a:r>
          </a:p>
          <a:p>
            <a:pPr marL="285750" indent="-285750">
              <a:buFont typeface="Arial"/>
              <a:buChar char="•"/>
            </a:pPr>
            <a:r>
              <a:rPr lang="en-US" sz="1200" b="0" err="1">
                <a:solidFill>
                  <a:schemeClr val="tx1"/>
                </a:solidFill>
                <a:latin typeface="Roboto"/>
                <a:ea typeface="Roboto Black"/>
              </a:rPr>
              <a:t>Pastikan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 path </a:t>
            </a:r>
            <a:r>
              <a:rPr lang="en-US" sz="1200" b="0" err="1">
                <a:solidFill>
                  <a:schemeClr val="tx1"/>
                </a:solidFill>
                <a:latin typeface="Roboto"/>
                <a:ea typeface="Roboto Black"/>
              </a:rPr>
              <a:t>sudah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 di </a:t>
            </a:r>
            <a:r>
              <a:rPr lang="en-US" sz="1200" b="0" err="1">
                <a:solidFill>
                  <a:schemeClr val="tx1"/>
                </a:solidFill>
                <a:latin typeface="Roboto"/>
                <a:ea typeface="Roboto Black"/>
              </a:rPr>
              <a:t>sesuaikan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(di </a:t>
            </a:r>
            <a:r>
              <a:rPr lang="en-US" sz="1200" b="0" err="1">
                <a:solidFill>
                  <a:schemeClr val="tx1"/>
                </a:solidFill>
                <a:latin typeface="Roboto"/>
                <a:ea typeface="Roboto Black"/>
              </a:rPr>
              <a:t>bantu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200" b="0" err="1">
                <a:solidFill>
                  <a:schemeClr val="tx1"/>
                </a:solidFill>
                <a:latin typeface="Roboto"/>
                <a:ea typeface="Roboto Black"/>
              </a:rPr>
              <a:t>ketika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200" b="0" err="1">
                <a:solidFill>
                  <a:schemeClr val="tx1"/>
                </a:solidFill>
                <a:latin typeface="Roboto"/>
                <a:ea typeface="Roboto Black"/>
              </a:rPr>
              <a:t>instalasi</a:t>
            </a:r>
            <a:r>
              <a:rPr lang="en-US" sz="1200" b="0" dirty="0">
                <a:solidFill>
                  <a:schemeClr val="tx1"/>
                </a:solidFill>
                <a:latin typeface="Roboto"/>
                <a:ea typeface="Roboto Black"/>
              </a:rPr>
              <a:t> java)</a:t>
            </a:r>
          </a:p>
          <a:p>
            <a:endParaRPr lang="en-US" sz="1200" b="0" dirty="0">
              <a:solidFill>
                <a:schemeClr val="tx1"/>
              </a:solidFill>
              <a:ea typeface="Roboto Black"/>
            </a:endParaRPr>
          </a:p>
          <a:p>
            <a:r>
              <a:rPr lang="en-US" sz="1200" b="0" dirty="0">
                <a:solidFill>
                  <a:schemeClr val="tx1"/>
                </a:solidFill>
                <a:ea typeface="Roboto Black"/>
              </a:rPr>
              <a:t>echo 'export PATH="/opt/homebrew/opt/openjdk@17/bin:$PATH"' &gt;&gt; ~/.</a:t>
            </a:r>
            <a:r>
              <a:rPr lang="en-US" sz="1200" b="0" dirty="0" err="1">
                <a:solidFill>
                  <a:schemeClr val="tx1"/>
                </a:solidFill>
                <a:ea typeface="Roboto Black"/>
              </a:rPr>
              <a:t>zshrc</a:t>
            </a:r>
            <a:endParaRPr lang="en-US" sz="1200" b="0">
              <a:solidFill>
                <a:schemeClr val="tx1"/>
              </a:solidFill>
              <a:latin typeface="Roboto"/>
              <a:ea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1825226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91A5C5D0-8062-1C51-3746-6647162E5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8232B772-07B6-3881-062C-68867CEA0C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4034" y="778625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Checklist To Do:</a:t>
            </a:r>
            <a:endParaRPr lang="en-US" sz="1600"/>
          </a:p>
        </p:txBody>
      </p:sp>
      <p:sp>
        <p:nvSpPr>
          <p:cNvPr id="3" name="Google Shape;119;p17">
            <a:extLst>
              <a:ext uri="{FF2B5EF4-FFF2-40B4-BE49-F238E27FC236}">
                <a16:creationId xmlns:a16="http://schemas.microsoft.com/office/drawing/2014/main" id="{4CDCA86D-78D3-1D40-A7FF-FEEDFEA46373}"/>
              </a:ext>
            </a:extLst>
          </p:cNvPr>
          <p:cNvSpPr txBox="1">
            <a:spLocks/>
          </p:cNvSpPr>
          <p:nvPr/>
        </p:nvSpPr>
        <p:spPr>
          <a:xfrm>
            <a:off x="416357" y="1281944"/>
            <a:ext cx="8098466" cy="600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342900" indent="-342900">
              <a:buAutoNum type="arabicPeriod"/>
            </a:pP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Sudah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install Java</a:t>
            </a:r>
          </a:p>
          <a:p>
            <a:r>
              <a:rPr lang="en-US" sz="1400" b="0" dirty="0">
                <a:solidFill>
                  <a:schemeClr val="tx1"/>
                </a:solidFill>
                <a:ea typeface="Roboto Black"/>
              </a:rPr>
              <a:t>2.    JAVA_HOME </a:t>
            </a:r>
            <a:r>
              <a:rPr lang="en-US" sz="1400" b="0" dirty="0" err="1">
                <a:solidFill>
                  <a:schemeClr val="tx1"/>
                </a:solidFill>
                <a:ea typeface="Roboto Black"/>
              </a:rPr>
              <a:t>telah</a:t>
            </a:r>
            <a:r>
              <a:rPr lang="en-US" sz="1400" b="0" dirty="0">
                <a:solidFill>
                  <a:schemeClr val="tx1"/>
                </a:solidFill>
                <a:ea typeface="Roboto Black"/>
              </a:rPr>
              <a:t> </a:t>
            </a:r>
            <a:r>
              <a:rPr lang="en-US" sz="1400" b="0" dirty="0" err="1">
                <a:solidFill>
                  <a:schemeClr val="tx1"/>
                </a:solidFill>
                <a:ea typeface="Roboto Black"/>
              </a:rPr>
              <a:t>ditambahkan</a:t>
            </a:r>
            <a:r>
              <a:rPr lang="en-US" sz="1400" b="0" dirty="0">
                <a:solidFill>
                  <a:schemeClr val="tx1"/>
                </a:solidFill>
                <a:ea typeface="Roboto Black"/>
              </a:rPr>
              <a:t> pada System Environment Variable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AED647AB-0504-22BF-1FB6-A8DC0D000A7B}"/>
              </a:ext>
            </a:extLst>
          </p:cNvPr>
          <p:cNvSpPr txBox="1">
            <a:spLocks/>
          </p:cNvSpPr>
          <p:nvPr/>
        </p:nvSpPr>
        <p:spPr>
          <a:xfrm>
            <a:off x="306066" y="1993816"/>
            <a:ext cx="4278443" cy="771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600" b="0" err="1">
                <a:latin typeface="Roboto Black"/>
                <a:ea typeface="Roboto Black"/>
                <a:cs typeface="Roboto"/>
              </a:rPr>
              <a:t>Jalankan</a:t>
            </a:r>
            <a:r>
              <a:rPr lang="en-US" sz="1600" b="0" dirty="0">
                <a:latin typeface="Roboto Black"/>
                <a:ea typeface="Roboto Black"/>
                <a:cs typeface="Roboto"/>
              </a:rPr>
              <a:t> </a:t>
            </a:r>
            <a:r>
              <a:rPr lang="en-US" sz="1600" b="0" err="1">
                <a:latin typeface="Roboto Black"/>
                <a:ea typeface="Roboto Black"/>
                <a:cs typeface="Roboto"/>
              </a:rPr>
              <a:t>Jmeter</a:t>
            </a:r>
            <a:r>
              <a:rPr lang="en-US" sz="1600" b="0" dirty="0">
                <a:latin typeface="Roboto Black"/>
                <a:ea typeface="Roboto Black"/>
                <a:cs typeface="Roboto"/>
              </a:rPr>
              <a:t>:</a:t>
            </a:r>
            <a:endParaRPr lang="en-US" sz="1600">
              <a:latin typeface="Roboto Black"/>
            </a:endParaRPr>
          </a:p>
        </p:txBody>
      </p:sp>
      <p:sp>
        <p:nvSpPr>
          <p:cNvPr id="7" name="Google Shape;119;p17">
            <a:extLst>
              <a:ext uri="{FF2B5EF4-FFF2-40B4-BE49-F238E27FC236}">
                <a16:creationId xmlns:a16="http://schemas.microsoft.com/office/drawing/2014/main" id="{F9DB90B3-02C6-8513-3AF2-479703834446}"/>
              </a:ext>
            </a:extLst>
          </p:cNvPr>
          <p:cNvSpPr txBox="1">
            <a:spLocks/>
          </p:cNvSpPr>
          <p:nvPr/>
        </p:nvSpPr>
        <p:spPr>
          <a:xfrm>
            <a:off x="416357" y="2465049"/>
            <a:ext cx="8098466" cy="600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342900" indent="-342900">
              <a:buAutoNum type="arabicPeriod"/>
            </a:pP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Extract Jmeter.zip yang 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telah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di download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Masuk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ke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dalam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folder bin</a:t>
            </a:r>
          </a:p>
          <a:p>
            <a:pPr marL="342900" indent="-342900">
              <a:buAutoNum type="arabicPeriod"/>
            </a:pP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Klik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2x pada file batch "</a:t>
            </a:r>
            <a:r>
              <a:rPr lang="en-US" sz="1400" b="0" dirty="0" err="1">
                <a:solidFill>
                  <a:schemeClr val="tx1"/>
                </a:solidFill>
                <a:latin typeface="Roboto"/>
                <a:ea typeface="Roboto Black"/>
              </a:rPr>
              <a:t>jmeter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"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DA3845-2711-8800-CBDD-CF9B930DD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11" y="3173355"/>
            <a:ext cx="7249027" cy="11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91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35B6F887-C916-7181-D607-4FA1F1F9D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E72B6B2B-7867-A1B0-EF82-0178A85EA7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4034" y="778625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GUI </a:t>
            </a:r>
            <a:r>
              <a:rPr lang="en-US" sz="1600" b="0" dirty="0" err="1">
                <a:latin typeface="Roboto Black"/>
                <a:ea typeface="Roboto Black"/>
                <a:cs typeface="Roboto"/>
              </a:rPr>
              <a:t>Jmeter</a:t>
            </a:r>
            <a:endParaRPr lang="en-US" dirty="0" err="1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68C033-737F-686A-14EB-FA91DFE9D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84" y="1283368"/>
            <a:ext cx="5322565" cy="299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95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0E9D41A2-B0AD-EFF9-F66C-20642786F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9CCC2E4B-4062-4761-FD42-390109DB48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5718" y="638257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Create Load Test Script!</a:t>
            </a:r>
            <a:endParaRPr lang="en-US" dirty="0"/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E3C81948-9704-1CAE-131D-AA6F31A73804}"/>
              </a:ext>
            </a:extLst>
          </p:cNvPr>
          <p:cNvSpPr txBox="1">
            <a:spLocks/>
          </p:cNvSpPr>
          <p:nvPr/>
        </p:nvSpPr>
        <p:spPr>
          <a:xfrm>
            <a:off x="937723" y="1231816"/>
            <a:ext cx="6383969" cy="114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>
                <a:latin typeface="Roboto"/>
                <a:ea typeface="Roboto Black"/>
                <a:cs typeface="Roboto"/>
              </a:rPr>
              <a:t>Ada </a:t>
            </a:r>
            <a:r>
              <a:rPr lang="en-US" sz="1400" b="0" err="1">
                <a:latin typeface="Roboto"/>
                <a:ea typeface="Roboto Black"/>
                <a:cs typeface="Roboto"/>
              </a:rPr>
              <a:t>beberapa</a:t>
            </a:r>
            <a:r>
              <a:rPr lang="en-US" sz="1400" b="0" dirty="0">
                <a:latin typeface="Roboto"/>
                <a:ea typeface="Roboto Black"/>
                <a:cs typeface="Roboto"/>
              </a:rPr>
              <a:t> </a:t>
            </a:r>
            <a:r>
              <a:rPr lang="en-US" sz="1400" b="0" err="1">
                <a:latin typeface="Roboto"/>
                <a:ea typeface="Roboto Black"/>
                <a:cs typeface="Roboto"/>
              </a:rPr>
              <a:t>hal</a:t>
            </a:r>
            <a:r>
              <a:rPr lang="en-US" sz="1400" b="0" dirty="0">
                <a:latin typeface="Roboto"/>
                <a:ea typeface="Roboto Black"/>
                <a:cs typeface="Roboto"/>
              </a:rPr>
              <a:t> yang </a:t>
            </a:r>
            <a:r>
              <a:rPr lang="en-US" sz="1400" b="0" err="1">
                <a:latin typeface="Roboto"/>
                <a:ea typeface="Roboto Black"/>
                <a:cs typeface="Roboto"/>
              </a:rPr>
              <a:t>perlu</a:t>
            </a:r>
            <a:r>
              <a:rPr lang="en-US" sz="1400" b="0" dirty="0">
                <a:latin typeface="Roboto"/>
                <a:ea typeface="Roboto Black"/>
                <a:cs typeface="Roboto"/>
              </a:rPr>
              <a:t> </a:t>
            </a:r>
            <a:r>
              <a:rPr lang="en-US" sz="1400" b="0" err="1">
                <a:latin typeface="Roboto"/>
                <a:ea typeface="Roboto Black"/>
                <a:cs typeface="Roboto"/>
              </a:rPr>
              <a:t>kita</a:t>
            </a:r>
            <a:r>
              <a:rPr lang="en-US" sz="1400" b="0" dirty="0">
                <a:latin typeface="Roboto"/>
                <a:ea typeface="Roboto Black"/>
                <a:cs typeface="Roboto"/>
              </a:rPr>
              <a:t> set up </a:t>
            </a:r>
            <a:r>
              <a:rPr lang="en-US" sz="1400" b="0" err="1">
                <a:latin typeface="Roboto"/>
                <a:ea typeface="Roboto Black"/>
                <a:cs typeface="Roboto"/>
              </a:rPr>
              <a:t>antara</a:t>
            </a:r>
            <a:r>
              <a:rPr lang="en-US" sz="1400" b="0" dirty="0">
                <a:latin typeface="Roboto"/>
                <a:ea typeface="Roboto Black"/>
                <a:cs typeface="Roboto"/>
              </a:rPr>
              <a:t> lain:</a:t>
            </a:r>
          </a:p>
          <a:p>
            <a:pPr marL="342900" indent="-342900">
              <a:buAutoNum type="arabicPeriod"/>
            </a:pPr>
            <a:endParaRPr lang="en-US" sz="1400" b="0" dirty="0">
              <a:latin typeface="Roboto"/>
              <a:ea typeface="Roboto Black"/>
              <a:cs typeface="Roboto"/>
            </a:endParaRPr>
          </a:p>
        </p:txBody>
      </p:sp>
      <p:sp>
        <p:nvSpPr>
          <p:cNvPr id="5" name="Google Shape;119;p17">
            <a:extLst>
              <a:ext uri="{FF2B5EF4-FFF2-40B4-BE49-F238E27FC236}">
                <a16:creationId xmlns:a16="http://schemas.microsoft.com/office/drawing/2014/main" id="{B65603E7-8F40-2C68-97C3-582053C316D9}"/>
              </a:ext>
            </a:extLst>
          </p:cNvPr>
          <p:cNvSpPr txBox="1">
            <a:spLocks/>
          </p:cNvSpPr>
          <p:nvPr/>
        </p:nvSpPr>
        <p:spPr>
          <a:xfrm>
            <a:off x="937723" y="1803315"/>
            <a:ext cx="6624600" cy="1583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342900" indent="-342900">
              <a:buAutoNum type="arabicPeriod"/>
            </a:pPr>
            <a:r>
              <a:rPr lang="en-US" sz="1400" b="0" dirty="0">
                <a:latin typeface="Roboto"/>
                <a:ea typeface="Roboto Black"/>
                <a:cs typeface="Roboto"/>
              </a:rPr>
              <a:t>Test Plan</a:t>
            </a:r>
          </a:p>
          <a:p>
            <a:pPr marL="342900" indent="-342900">
              <a:buAutoNum type="arabicPeriod"/>
            </a:pPr>
            <a:r>
              <a:rPr lang="en-US" sz="1400" b="0" dirty="0">
                <a:latin typeface="Roboto"/>
                <a:ea typeface="Roboto Black"/>
                <a:cs typeface="Roboto"/>
              </a:rPr>
              <a:t>Thread Group</a:t>
            </a:r>
          </a:p>
          <a:p>
            <a:pPr marL="342900" indent="-342900">
              <a:buAutoNum type="arabicPeriod"/>
            </a:pPr>
            <a:r>
              <a:rPr lang="en-US" sz="1400" b="0" dirty="0">
                <a:latin typeface="Roboto"/>
                <a:ea typeface="Roboto Black"/>
                <a:cs typeface="Roboto"/>
              </a:rPr>
              <a:t>Sampler</a:t>
            </a:r>
          </a:p>
          <a:p>
            <a:pPr marL="342900" indent="-342900">
              <a:buAutoNum type="arabicPeriod"/>
            </a:pPr>
            <a:r>
              <a:rPr lang="en-US" sz="1400" b="0" dirty="0">
                <a:latin typeface="Roboto"/>
                <a:ea typeface="Roboto Black"/>
                <a:cs typeface="Roboto"/>
              </a:rPr>
              <a:t>Listener</a:t>
            </a:r>
          </a:p>
          <a:p>
            <a:pPr marL="342900" indent="-342900">
              <a:buAutoNum type="arabicPeriod"/>
            </a:pPr>
            <a:r>
              <a:rPr lang="en-US" sz="1400" b="0" dirty="0">
                <a:latin typeface="Roboto"/>
                <a:ea typeface="Roboto Black"/>
                <a:cs typeface="Roboto"/>
              </a:rPr>
              <a:t>Assertion</a:t>
            </a:r>
          </a:p>
        </p:txBody>
      </p:sp>
    </p:spTree>
    <p:extLst>
      <p:ext uri="{BB962C8B-B14F-4D97-AF65-F5344CB8AC3E}">
        <p14:creationId xmlns:p14="http://schemas.microsoft.com/office/powerpoint/2010/main" val="4257554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A8A0EFA-7835-5072-6288-312EDD6A0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C1C44EA0-B649-A2EE-05EA-7D76CB0FB0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5718" y="638257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Test Plan</a:t>
            </a:r>
            <a:endParaRPr lang="en-US" dirty="0"/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3A019BC2-9469-A7A1-AF01-5FD62AFF8976}"/>
              </a:ext>
            </a:extLst>
          </p:cNvPr>
          <p:cNvSpPr txBox="1">
            <a:spLocks/>
          </p:cNvSpPr>
          <p:nvPr/>
        </p:nvSpPr>
        <p:spPr>
          <a:xfrm>
            <a:off x="937723" y="1271921"/>
            <a:ext cx="7256258" cy="1102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>
                <a:latin typeface="Roboto"/>
                <a:ea typeface="Roboto Black"/>
                <a:cs typeface="Roboto"/>
              </a:rPr>
              <a:t>Test Plan: </a:t>
            </a:r>
            <a:r>
              <a:rPr lang="en-US" sz="1400" dirty="0" err="1">
                <a:latin typeface="Roboto"/>
                <a:ea typeface="Roboto Black"/>
              </a:rPr>
              <a:t>rangka</a:t>
            </a:r>
            <a:r>
              <a:rPr lang="en-US" sz="1400" dirty="0">
                <a:latin typeface="Roboto"/>
                <a:ea typeface="Roboto Black"/>
              </a:rPr>
              <a:t> </a:t>
            </a:r>
            <a:r>
              <a:rPr lang="en-US" sz="1400" dirty="0" err="1">
                <a:latin typeface="Roboto"/>
                <a:ea typeface="Roboto Black"/>
              </a:rPr>
              <a:t>utama</a:t>
            </a:r>
            <a:r>
              <a:rPr lang="en-US" sz="1400" dirty="0">
                <a:latin typeface="Roboto"/>
                <a:ea typeface="Roboto Black"/>
              </a:rPr>
              <a:t> (root folder)</a:t>
            </a:r>
            <a:r>
              <a:rPr lang="en-US" sz="1400" b="0" dirty="0">
                <a:latin typeface="Roboto"/>
                <a:ea typeface="Roboto Black"/>
              </a:rPr>
              <a:t> di JMeter yang </a:t>
            </a:r>
            <a:r>
              <a:rPr lang="en-US" sz="1400" b="0" dirty="0" err="1">
                <a:latin typeface="Roboto"/>
                <a:ea typeface="Roboto Black"/>
              </a:rPr>
              <a:t>berisi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dirty="0" err="1">
                <a:latin typeface="Roboto"/>
                <a:ea typeface="Roboto Black"/>
              </a:rPr>
              <a:t>semua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dirty="0" err="1">
                <a:latin typeface="Roboto"/>
                <a:ea typeface="Roboto Black"/>
              </a:rPr>
              <a:t>konfigurasi</a:t>
            </a:r>
            <a:r>
              <a:rPr lang="en-US" sz="1400" b="0" dirty="0">
                <a:latin typeface="Roboto"/>
                <a:ea typeface="Roboto Black"/>
              </a:rPr>
              <a:t>, </a:t>
            </a:r>
            <a:r>
              <a:rPr lang="en-US" sz="1400" b="0" dirty="0" err="1">
                <a:latin typeface="Roboto"/>
                <a:ea typeface="Roboto Black"/>
              </a:rPr>
              <a:t>skenario</a:t>
            </a:r>
            <a:r>
              <a:rPr lang="en-US" sz="1400" b="0" dirty="0">
                <a:latin typeface="Roboto"/>
                <a:ea typeface="Roboto Black"/>
              </a:rPr>
              <a:t>, dan </a:t>
            </a:r>
            <a:r>
              <a:rPr lang="en-US" sz="1400" b="0" dirty="0" err="1">
                <a:latin typeface="Roboto"/>
                <a:ea typeface="Roboto Black"/>
              </a:rPr>
              <a:t>komponen</a:t>
            </a:r>
            <a:r>
              <a:rPr lang="en-US" sz="1400" b="0" dirty="0">
                <a:latin typeface="Roboto"/>
                <a:ea typeface="Roboto Black"/>
              </a:rPr>
              <a:t> yang </a:t>
            </a:r>
            <a:r>
              <a:rPr lang="en-US" sz="1400" b="0" dirty="0" err="1">
                <a:latin typeface="Roboto"/>
                <a:ea typeface="Roboto Black"/>
              </a:rPr>
              <a:t>dibutuhkan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dirty="0" err="1">
                <a:latin typeface="Roboto"/>
                <a:ea typeface="Roboto Black"/>
              </a:rPr>
              <a:t>untuk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dirty="0" err="1">
                <a:latin typeface="Roboto"/>
                <a:ea typeface="Roboto Black"/>
              </a:rPr>
              <a:t>menjalankan</a:t>
            </a:r>
            <a:r>
              <a:rPr lang="en-US" sz="1400" b="0" dirty="0">
                <a:latin typeface="Roboto"/>
                <a:ea typeface="Roboto Black"/>
              </a:rPr>
              <a:t> performance test.</a:t>
            </a:r>
            <a:endParaRPr lang="en-US" sz="1400" b="0" dirty="0">
              <a:latin typeface="Roboto"/>
              <a:ea typeface="Roboto Black"/>
              <a:cs typeface="Roboto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3ED163-74EB-FE42-9F08-A86A8041F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03" y="2235867"/>
            <a:ext cx="4351996" cy="245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33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95A0B15D-FF47-B336-C3AC-9D0C25DB8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B543F3AA-2AEA-F657-37DD-43800533E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5718" y="638257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Thread Group</a:t>
            </a:r>
            <a:endParaRPr lang="en-US" dirty="0"/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20C48DB5-BD74-6963-18D1-D3CA25AB6292}"/>
              </a:ext>
            </a:extLst>
          </p:cNvPr>
          <p:cNvSpPr txBox="1">
            <a:spLocks/>
          </p:cNvSpPr>
          <p:nvPr/>
        </p:nvSpPr>
        <p:spPr>
          <a:xfrm>
            <a:off x="937723" y="1021263"/>
            <a:ext cx="7256258" cy="1102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>
                <a:latin typeface="Roboto"/>
                <a:ea typeface="Roboto Black"/>
                <a:cs typeface="Roboto"/>
              </a:rPr>
              <a:t>Thread Group: </a:t>
            </a:r>
            <a:r>
              <a:rPr lang="en-US" sz="1400" err="1">
                <a:latin typeface="Roboto"/>
                <a:ea typeface="Roboto Black"/>
              </a:rPr>
              <a:t>komponen</a:t>
            </a:r>
            <a:r>
              <a:rPr lang="en-US" sz="1400" dirty="0">
                <a:latin typeface="Roboto"/>
                <a:ea typeface="Roboto Black"/>
              </a:rPr>
              <a:t> inti di </a:t>
            </a:r>
            <a:r>
              <a:rPr lang="en-US" sz="1400" err="1">
                <a:latin typeface="Roboto"/>
                <a:ea typeface="Roboto Black"/>
              </a:rPr>
              <a:t>dalam</a:t>
            </a:r>
            <a:r>
              <a:rPr lang="en-US" sz="1400" dirty="0">
                <a:latin typeface="Roboto"/>
                <a:ea typeface="Roboto Black"/>
              </a:rPr>
              <a:t> Test Plan</a:t>
            </a:r>
            <a:r>
              <a:rPr lang="en-US" sz="1400" b="0" dirty="0">
                <a:latin typeface="Roboto"/>
                <a:ea typeface="Roboto Black"/>
              </a:rPr>
              <a:t> yang </a:t>
            </a:r>
            <a:r>
              <a:rPr lang="en-US" sz="1400" b="0" err="1">
                <a:latin typeface="Roboto"/>
                <a:ea typeface="Roboto Black"/>
              </a:rPr>
              <a:t>mendefinisikan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bagaimana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i="1" dirty="0">
                <a:latin typeface="Roboto"/>
                <a:ea typeface="Roboto Black"/>
              </a:rPr>
              <a:t>user virtual</a:t>
            </a:r>
            <a:r>
              <a:rPr lang="en-US" sz="1400" b="0" dirty="0">
                <a:latin typeface="Roboto"/>
                <a:ea typeface="Roboto Black"/>
              </a:rPr>
              <a:t> (</a:t>
            </a:r>
            <a:r>
              <a:rPr lang="en-US" sz="1400" b="0" err="1">
                <a:latin typeface="Roboto"/>
                <a:ea typeface="Roboto Black"/>
              </a:rPr>
              <a:t>simulasi</a:t>
            </a:r>
            <a:r>
              <a:rPr lang="en-US" sz="1400" b="0" dirty="0">
                <a:latin typeface="Roboto"/>
                <a:ea typeface="Roboto Black"/>
              </a:rPr>
              <a:t> user) </a:t>
            </a:r>
            <a:r>
              <a:rPr lang="en-US" sz="1400" b="0" err="1">
                <a:latin typeface="Roboto"/>
                <a:ea typeface="Roboto Black"/>
              </a:rPr>
              <a:t>akan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mengeksekusi</a:t>
            </a:r>
            <a:r>
              <a:rPr lang="en-US" sz="1400" b="0" dirty="0">
                <a:latin typeface="Roboto"/>
                <a:ea typeface="Roboto Black"/>
              </a:rPr>
              <a:t> test.</a:t>
            </a:r>
            <a:endParaRPr lang="en-US" sz="1400" b="0">
              <a:latin typeface="Roboto"/>
              <a:ea typeface="Roboto Black"/>
              <a:cs typeface="Roboto"/>
            </a:endParaRPr>
          </a:p>
        </p:txBody>
      </p:sp>
      <p:sp>
        <p:nvSpPr>
          <p:cNvPr id="3" name="Google Shape;119;p17">
            <a:extLst>
              <a:ext uri="{FF2B5EF4-FFF2-40B4-BE49-F238E27FC236}">
                <a16:creationId xmlns:a16="http://schemas.microsoft.com/office/drawing/2014/main" id="{BD0BB925-12B1-53BD-C111-CCC56FD84E5E}"/>
              </a:ext>
            </a:extLst>
          </p:cNvPr>
          <p:cNvSpPr txBox="1">
            <a:spLocks/>
          </p:cNvSpPr>
          <p:nvPr/>
        </p:nvSpPr>
        <p:spPr>
          <a:xfrm>
            <a:off x="937723" y="1773236"/>
            <a:ext cx="7256258" cy="1102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Parameter Utama di Thread Group</a:t>
            </a:r>
            <a:endParaRPr lang="en-US" sz="1600">
              <a:latin typeface="Roboto Black"/>
            </a:endParaRPr>
          </a:p>
        </p:txBody>
      </p:sp>
      <p:sp>
        <p:nvSpPr>
          <p:cNvPr id="5" name="Google Shape;119;p17">
            <a:extLst>
              <a:ext uri="{FF2B5EF4-FFF2-40B4-BE49-F238E27FC236}">
                <a16:creationId xmlns:a16="http://schemas.microsoft.com/office/drawing/2014/main" id="{D9F85810-8A39-65D6-2A2C-9C0421E948A5}"/>
              </a:ext>
            </a:extLst>
          </p:cNvPr>
          <p:cNvSpPr txBox="1">
            <a:spLocks/>
          </p:cNvSpPr>
          <p:nvPr/>
        </p:nvSpPr>
        <p:spPr>
          <a:xfrm>
            <a:off x="937722" y="2324684"/>
            <a:ext cx="7256258" cy="2315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200" dirty="0">
                <a:latin typeface="Roboto"/>
                <a:ea typeface="Roboto Black"/>
              </a:rPr>
              <a:t>Number of Threads (users)</a:t>
            </a:r>
            <a:br>
              <a:rPr lang="en-US" sz="1200" dirty="0">
                <a:latin typeface="Roboto"/>
                <a:ea typeface="Roboto Black"/>
              </a:rPr>
            </a:br>
            <a:r>
              <a:rPr lang="en-US" sz="1200" dirty="0">
                <a:latin typeface="Roboto"/>
                <a:ea typeface="Roboto Black"/>
              </a:rPr>
              <a:t> → </a:t>
            </a:r>
            <a:r>
              <a:rPr lang="en-US" sz="1200" b="0" dirty="0" err="1">
                <a:latin typeface="Roboto"/>
                <a:ea typeface="Roboto Black"/>
              </a:rPr>
              <a:t>jumlah</a:t>
            </a:r>
            <a:r>
              <a:rPr lang="en-US" sz="1200" b="0" dirty="0">
                <a:latin typeface="Roboto"/>
                <a:ea typeface="Roboto Black"/>
              </a:rPr>
              <a:t> user virtual yang </a:t>
            </a:r>
            <a:r>
              <a:rPr lang="en-US" sz="1200" b="0" dirty="0" err="1">
                <a:latin typeface="Roboto"/>
                <a:ea typeface="Roboto Black"/>
              </a:rPr>
              <a:t>akan</a:t>
            </a: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disimulasikan</a:t>
            </a:r>
            <a:r>
              <a:rPr lang="en-US" sz="1200" b="0" dirty="0">
                <a:latin typeface="Roboto"/>
                <a:ea typeface="Roboto Black"/>
              </a:rPr>
              <a:t>.</a:t>
            </a:r>
            <a:br>
              <a:rPr lang="en-US" sz="1200" b="0" dirty="0">
                <a:latin typeface="Roboto"/>
                <a:ea typeface="Roboto Black"/>
              </a:rPr>
            </a:b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Contoh</a:t>
            </a:r>
            <a:r>
              <a:rPr lang="en-US" sz="1200" b="0" dirty="0">
                <a:latin typeface="Roboto"/>
                <a:ea typeface="Roboto Black"/>
              </a:rPr>
              <a:t>: </a:t>
            </a:r>
            <a:r>
              <a:rPr lang="en-US" sz="1200" b="0" dirty="0" err="1">
                <a:latin typeface="Roboto"/>
                <a:ea typeface="Roboto Black"/>
              </a:rPr>
              <a:t>isi</a:t>
            </a:r>
            <a:r>
              <a:rPr lang="en-US" sz="1200" b="0" dirty="0">
                <a:latin typeface="Roboto"/>
                <a:ea typeface="Roboto Black"/>
              </a:rPr>
              <a:t> 50 → JMeter </a:t>
            </a:r>
            <a:r>
              <a:rPr lang="en-US" sz="1200" b="0" dirty="0" err="1">
                <a:latin typeface="Roboto"/>
                <a:ea typeface="Roboto Black"/>
              </a:rPr>
              <a:t>akan</a:t>
            </a: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buat</a:t>
            </a:r>
            <a:r>
              <a:rPr lang="en-US" sz="1200" b="0" dirty="0">
                <a:latin typeface="Roboto"/>
                <a:ea typeface="Roboto Black"/>
              </a:rPr>
              <a:t> 50 user.</a:t>
            </a:r>
            <a:endParaRPr lang="en-US" sz="1200" b="0">
              <a:latin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latin typeface="Roboto"/>
                <a:ea typeface="Roboto Black"/>
              </a:rPr>
              <a:t>Ramp-Up Period (seconds)</a:t>
            </a:r>
            <a:br>
              <a:rPr lang="en-US" sz="1200" dirty="0">
                <a:latin typeface="Roboto"/>
                <a:ea typeface="Roboto Black"/>
              </a:rPr>
            </a:br>
            <a:r>
              <a:rPr lang="en-US" sz="1200" b="0" dirty="0">
                <a:latin typeface="Roboto"/>
                <a:ea typeface="Roboto Black"/>
              </a:rPr>
              <a:t> → </a:t>
            </a:r>
            <a:r>
              <a:rPr lang="en-US" sz="1200" b="0" dirty="0" err="1">
                <a:latin typeface="Roboto"/>
                <a:ea typeface="Roboto Black"/>
              </a:rPr>
              <a:t>waktu</a:t>
            </a: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untuk</a:t>
            </a: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menaikkan</a:t>
            </a: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semua</a:t>
            </a:r>
            <a:r>
              <a:rPr lang="en-US" sz="1200" b="0" dirty="0">
                <a:latin typeface="Roboto"/>
                <a:ea typeface="Roboto Black"/>
              </a:rPr>
              <a:t> user</a:t>
            </a:r>
            <a:r>
              <a:rPr lang="en-US" sz="1200" dirty="0">
                <a:latin typeface="Roboto"/>
                <a:ea typeface="Roboto Black"/>
              </a:rPr>
              <a:t>.</a:t>
            </a:r>
            <a:br>
              <a:rPr lang="en-US" sz="1200" dirty="0">
                <a:latin typeface="Roboto"/>
                <a:ea typeface="Roboto Black"/>
              </a:rPr>
            </a:br>
            <a:r>
              <a:rPr lang="en-US" sz="120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Contoh</a:t>
            </a:r>
            <a:r>
              <a:rPr lang="en-US" sz="1200" b="0" dirty="0">
                <a:latin typeface="Roboto"/>
                <a:ea typeface="Roboto Black"/>
              </a:rPr>
              <a:t>: 50 threads, ramp-up 10 </a:t>
            </a:r>
            <a:r>
              <a:rPr lang="en-US" sz="1200" b="0" dirty="0" err="1">
                <a:latin typeface="Roboto"/>
                <a:ea typeface="Roboto Black"/>
              </a:rPr>
              <a:t>detik</a:t>
            </a:r>
            <a:r>
              <a:rPr lang="en-US" sz="1200" b="0" dirty="0">
                <a:latin typeface="Roboto"/>
                <a:ea typeface="Roboto Black"/>
              </a:rPr>
              <a:t> → </a:t>
            </a:r>
            <a:r>
              <a:rPr lang="en-US" sz="1200" b="0" dirty="0" err="1">
                <a:latin typeface="Roboto"/>
                <a:ea typeface="Roboto Black"/>
              </a:rPr>
              <a:t>tiap</a:t>
            </a: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detik</a:t>
            </a:r>
            <a:r>
              <a:rPr lang="en-US" sz="1200" b="0" dirty="0">
                <a:latin typeface="Roboto"/>
                <a:ea typeface="Roboto Black"/>
              </a:rPr>
              <a:t> 5 user </a:t>
            </a:r>
            <a:r>
              <a:rPr lang="en-US" sz="1200" b="0" dirty="0" err="1">
                <a:latin typeface="Roboto"/>
                <a:ea typeface="Roboto Black"/>
              </a:rPr>
              <a:t>baru</a:t>
            </a: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aktif</a:t>
            </a:r>
            <a:r>
              <a:rPr lang="en-US" sz="1200" b="0" dirty="0">
                <a:latin typeface="Roboto"/>
                <a:ea typeface="Roboto Black"/>
              </a:rPr>
              <a:t>. (50/10)</a:t>
            </a:r>
            <a:endParaRPr lang="en-US" sz="1200" dirty="0">
              <a:latin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latin typeface="Roboto"/>
                <a:ea typeface="Roboto Black"/>
              </a:rPr>
              <a:t>Loop Count</a:t>
            </a:r>
            <a:br>
              <a:rPr lang="en-US" sz="1200" dirty="0">
                <a:latin typeface="Roboto"/>
                <a:ea typeface="Roboto Black"/>
              </a:rPr>
            </a:br>
            <a:r>
              <a:rPr lang="en-US" sz="1200" b="0" dirty="0">
                <a:latin typeface="Roboto"/>
                <a:ea typeface="Roboto Black"/>
              </a:rPr>
              <a:t> → </a:t>
            </a:r>
            <a:r>
              <a:rPr lang="en-US" sz="1200" b="0" dirty="0" err="1">
                <a:latin typeface="Roboto"/>
                <a:ea typeface="Roboto Black"/>
              </a:rPr>
              <a:t>berapa</a:t>
            </a:r>
            <a:r>
              <a:rPr lang="en-US" sz="1200" b="0" dirty="0">
                <a:latin typeface="Roboto"/>
                <a:ea typeface="Roboto Black"/>
              </a:rPr>
              <a:t> kali </a:t>
            </a:r>
            <a:r>
              <a:rPr lang="en-US" sz="1200" b="0" dirty="0" err="1">
                <a:latin typeface="Roboto"/>
                <a:ea typeface="Roboto Black"/>
              </a:rPr>
              <a:t>tiap</a:t>
            </a:r>
            <a:r>
              <a:rPr lang="en-US" sz="1200" b="0" dirty="0">
                <a:latin typeface="Roboto"/>
                <a:ea typeface="Roboto Black"/>
              </a:rPr>
              <a:t> user </a:t>
            </a:r>
            <a:r>
              <a:rPr lang="en-US" sz="1200" b="0" dirty="0" err="1">
                <a:latin typeface="Roboto"/>
                <a:ea typeface="Roboto Black"/>
              </a:rPr>
              <a:t>mengulang</a:t>
            </a: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skenario</a:t>
            </a:r>
            <a:r>
              <a:rPr lang="en-US" sz="1200" b="0" dirty="0">
                <a:latin typeface="Roboto"/>
                <a:ea typeface="Roboto Black"/>
              </a:rPr>
              <a:t>.</a:t>
            </a:r>
            <a:br>
              <a:rPr lang="en-US" sz="1200" b="0" dirty="0">
                <a:latin typeface="Roboto"/>
                <a:ea typeface="Roboto Black"/>
              </a:rPr>
            </a:b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Contoh</a:t>
            </a:r>
            <a:r>
              <a:rPr lang="en-US" sz="1200" b="0" dirty="0">
                <a:latin typeface="Roboto"/>
                <a:ea typeface="Roboto Black"/>
              </a:rPr>
              <a:t>: Loop Count = 2 → </a:t>
            </a:r>
            <a:r>
              <a:rPr lang="en-US" sz="1200" b="0" dirty="0" err="1">
                <a:latin typeface="Roboto"/>
                <a:ea typeface="Roboto Black"/>
              </a:rPr>
              <a:t>setiap</a:t>
            </a:r>
            <a:r>
              <a:rPr lang="en-US" sz="1200" b="0" dirty="0">
                <a:latin typeface="Roboto"/>
                <a:ea typeface="Roboto Black"/>
              </a:rPr>
              <a:t> user </a:t>
            </a:r>
            <a:r>
              <a:rPr lang="en-US" sz="1200" b="0" dirty="0" err="1">
                <a:latin typeface="Roboto"/>
                <a:ea typeface="Roboto Black"/>
              </a:rPr>
              <a:t>akan</a:t>
            </a: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menjalankan</a:t>
            </a:r>
            <a:r>
              <a:rPr lang="en-US" sz="1200" b="0" dirty="0">
                <a:latin typeface="Roboto"/>
                <a:ea typeface="Roboto Black"/>
              </a:rPr>
              <a:t> request 2 kali.</a:t>
            </a:r>
            <a:endParaRPr lang="en-US" sz="1200" b="0">
              <a:latin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latin typeface="Roboto"/>
                <a:ea typeface="Roboto Black"/>
              </a:rPr>
              <a:t>Duration (</a:t>
            </a:r>
            <a:r>
              <a:rPr lang="en-US" sz="1200" dirty="0" err="1">
                <a:latin typeface="Roboto"/>
                <a:ea typeface="Roboto Black"/>
              </a:rPr>
              <a:t>opsional</a:t>
            </a:r>
            <a:r>
              <a:rPr lang="en-US" sz="1200" dirty="0">
                <a:latin typeface="Roboto"/>
                <a:ea typeface="Roboto Black"/>
              </a:rPr>
              <a:t>)</a:t>
            </a:r>
            <a:br>
              <a:rPr lang="en-US" sz="1200" dirty="0">
                <a:latin typeface="Roboto"/>
                <a:ea typeface="Roboto Black"/>
              </a:rPr>
            </a:br>
            <a:r>
              <a:rPr lang="en-US" sz="1200" dirty="0">
                <a:latin typeface="Roboto"/>
                <a:ea typeface="Roboto Black"/>
              </a:rPr>
              <a:t> </a:t>
            </a:r>
            <a:r>
              <a:rPr lang="en-US" sz="1200" b="0" dirty="0">
                <a:latin typeface="Roboto"/>
                <a:ea typeface="Roboto Black"/>
              </a:rPr>
              <a:t>→ </a:t>
            </a:r>
            <a:r>
              <a:rPr lang="en-US" sz="1200" b="0" dirty="0" err="1">
                <a:latin typeface="Roboto"/>
                <a:ea typeface="Roboto Black"/>
              </a:rPr>
              <a:t>kalau</a:t>
            </a:r>
            <a:r>
              <a:rPr lang="en-US" sz="1200" b="0" dirty="0">
                <a:latin typeface="Roboto"/>
                <a:ea typeface="Roboto Black"/>
              </a:rPr>
              <a:t> di-set, test </a:t>
            </a:r>
            <a:r>
              <a:rPr lang="en-US" sz="1200" b="0" dirty="0" err="1">
                <a:latin typeface="Roboto"/>
                <a:ea typeface="Roboto Black"/>
              </a:rPr>
              <a:t>akan</a:t>
            </a: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berjalan</a:t>
            </a: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sesuai</a:t>
            </a: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durasi</a:t>
            </a: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tertentu</a:t>
            </a:r>
            <a:r>
              <a:rPr lang="en-US" sz="1200" b="0" dirty="0">
                <a:latin typeface="Roboto"/>
                <a:ea typeface="Roboto Black"/>
              </a:rPr>
              <a:t>, </a:t>
            </a:r>
            <a:r>
              <a:rPr lang="en-US" sz="1200" b="0" dirty="0" err="1">
                <a:latin typeface="Roboto"/>
                <a:ea typeface="Roboto Black"/>
              </a:rPr>
              <a:t>bukan</a:t>
            </a:r>
            <a:r>
              <a:rPr lang="en-US" sz="1200" b="0" dirty="0">
                <a:latin typeface="Roboto"/>
                <a:ea typeface="Roboto Black"/>
              </a:rPr>
              <a:t> </a:t>
            </a:r>
            <a:r>
              <a:rPr lang="en-US" sz="1200" b="0" dirty="0" err="1">
                <a:latin typeface="Roboto"/>
                <a:ea typeface="Roboto Black"/>
              </a:rPr>
              <a:t>hitungan</a:t>
            </a:r>
            <a:r>
              <a:rPr lang="en-US" sz="1200" b="0" dirty="0">
                <a:latin typeface="Roboto"/>
                <a:ea typeface="Roboto Black"/>
              </a:rPr>
              <a:t> loop.</a:t>
            </a:r>
            <a:endParaRPr lang="en-US" sz="1200" b="0">
              <a:latin typeface="Roboto"/>
            </a:endParaRPr>
          </a:p>
          <a:p>
            <a:endParaRPr lang="en-US" sz="1200" b="0" dirty="0">
              <a:latin typeface="Roboto"/>
              <a:ea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2758902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8764468C-AC4A-21D0-BC7E-DAEA971C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0E1DA778-DDD3-1C41-A717-51153F2A6C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5718" y="638257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Thread Group</a:t>
            </a:r>
            <a:endParaRPr lang="en-US" dirty="0"/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8533D58-FE61-60BC-9785-E8C3094C2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153" y="1413711"/>
            <a:ext cx="5398168" cy="303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75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F9EE74C6-116C-5F5E-24D8-5FB023F85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1CEFAB6A-94B3-DEE0-DCFC-1425EF918B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5718" y="638257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Sampler</a:t>
            </a:r>
            <a:endParaRPr lang="en-US" dirty="0"/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309A9C7F-8628-9F73-1B65-DE28F82339AF}"/>
              </a:ext>
            </a:extLst>
          </p:cNvPr>
          <p:cNvSpPr txBox="1">
            <a:spLocks/>
          </p:cNvSpPr>
          <p:nvPr/>
        </p:nvSpPr>
        <p:spPr>
          <a:xfrm>
            <a:off x="937724" y="1191710"/>
            <a:ext cx="8078415" cy="2044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>
                <a:latin typeface="Roboto"/>
                <a:ea typeface="Roboto Black"/>
                <a:cs typeface="Roboto"/>
              </a:rPr>
              <a:t>Sampler: </a:t>
            </a:r>
            <a:r>
              <a:rPr lang="en-US" sz="1400" b="0" err="1">
                <a:latin typeface="Roboto"/>
                <a:ea typeface="Roboto Black"/>
              </a:rPr>
              <a:t>komponen</a:t>
            </a:r>
            <a:r>
              <a:rPr lang="en-US" sz="1400" b="0" dirty="0">
                <a:latin typeface="Roboto"/>
                <a:ea typeface="Roboto Black"/>
              </a:rPr>
              <a:t> di JMeter yang </a:t>
            </a:r>
            <a:r>
              <a:rPr lang="en-US" sz="1400" b="0" err="1">
                <a:latin typeface="Roboto"/>
                <a:ea typeface="Roboto Black"/>
              </a:rPr>
              <a:t>digunakan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untuk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err="1">
                <a:latin typeface="Roboto"/>
                <a:ea typeface="Roboto Black"/>
              </a:rPr>
              <a:t>mengirimkan</a:t>
            </a:r>
            <a:r>
              <a:rPr lang="en-US" sz="1400" dirty="0">
                <a:latin typeface="Roboto"/>
                <a:ea typeface="Roboto Black"/>
              </a:rPr>
              <a:t> request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ke</a:t>
            </a:r>
            <a:r>
              <a:rPr lang="en-US" sz="1400" b="0" dirty="0">
                <a:latin typeface="Roboto"/>
                <a:ea typeface="Roboto Black"/>
              </a:rPr>
              <a:t> server </a:t>
            </a:r>
            <a:r>
              <a:rPr lang="en-US" sz="1400" b="0" err="1">
                <a:latin typeface="Roboto"/>
                <a:ea typeface="Roboto Black"/>
              </a:rPr>
              <a:t>atau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sistem</a:t>
            </a:r>
            <a:r>
              <a:rPr lang="en-US" sz="1400" b="0" dirty="0">
                <a:latin typeface="Roboto"/>
                <a:ea typeface="Roboto Black"/>
              </a:rPr>
              <a:t> yang </a:t>
            </a:r>
            <a:r>
              <a:rPr lang="en-US" sz="1400" b="0" err="1">
                <a:latin typeface="Roboto"/>
                <a:ea typeface="Roboto Black"/>
              </a:rPr>
              <a:t>diuji</a:t>
            </a:r>
            <a:r>
              <a:rPr lang="en-US" sz="1400" b="0" dirty="0">
                <a:latin typeface="Roboto"/>
                <a:ea typeface="Roboto Black"/>
              </a:rPr>
              <a:t>.</a:t>
            </a:r>
          </a:p>
          <a:p>
            <a:endParaRPr lang="en-US" sz="1400" b="0" dirty="0">
              <a:latin typeface="Roboto"/>
              <a:ea typeface="Roboto Black"/>
            </a:endParaRPr>
          </a:p>
          <a:p>
            <a:r>
              <a:rPr lang="en-US" sz="1400" b="0" dirty="0">
                <a:latin typeface="Roboto"/>
                <a:ea typeface="Roboto Black"/>
              </a:rPr>
              <a:t>Adapun </a:t>
            </a:r>
            <a:r>
              <a:rPr lang="en-US" sz="1400" b="0" err="1">
                <a:latin typeface="Roboto"/>
                <a:ea typeface="Roboto Black"/>
              </a:rPr>
              <a:t>hal</a:t>
            </a:r>
            <a:r>
              <a:rPr lang="en-US" sz="1400" b="0" dirty="0">
                <a:latin typeface="Roboto"/>
                <a:ea typeface="Roboto Black"/>
              </a:rPr>
              <a:t> yang </a:t>
            </a:r>
            <a:r>
              <a:rPr lang="en-US" sz="1400" b="0" err="1">
                <a:latin typeface="Roboto"/>
                <a:ea typeface="Roboto Black"/>
              </a:rPr>
              <a:t>perlu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kita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isi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antara</a:t>
            </a:r>
            <a:r>
              <a:rPr lang="en-US" sz="1400" b="0" dirty="0">
                <a:latin typeface="Roboto"/>
                <a:ea typeface="Roboto Black"/>
              </a:rPr>
              <a:t> lain:</a:t>
            </a:r>
          </a:p>
          <a:p>
            <a:endParaRPr lang="en-US" sz="1400" b="0" dirty="0">
              <a:latin typeface="Roboto"/>
              <a:ea typeface="Roboto Black"/>
            </a:endParaRPr>
          </a:p>
          <a:p>
            <a:pPr marL="342900" indent="-342900">
              <a:buAutoNum type="arabicPeriod"/>
            </a:pPr>
            <a:r>
              <a:rPr lang="en-US" sz="1400" b="0" dirty="0">
                <a:latin typeface="Roboto"/>
                <a:ea typeface="Roboto Black"/>
              </a:rPr>
              <a:t>Name</a:t>
            </a:r>
          </a:p>
          <a:p>
            <a:pPr marL="342900" indent="-342900">
              <a:buAutoNum type="arabicPeriod"/>
            </a:pPr>
            <a:r>
              <a:rPr lang="en-US" sz="1400" b="0" dirty="0">
                <a:latin typeface="Roboto"/>
                <a:ea typeface="Roboto Black"/>
              </a:rPr>
              <a:t>Endpoint</a:t>
            </a:r>
          </a:p>
          <a:p>
            <a:pPr marL="342900" indent="-342900">
              <a:buAutoNum type="arabicPeriod"/>
            </a:pPr>
            <a:r>
              <a:rPr lang="en-US" sz="1400" b="0" dirty="0">
                <a:latin typeface="Roboto"/>
                <a:ea typeface="Roboto Black"/>
              </a:rPr>
              <a:t>Protocol</a:t>
            </a:r>
          </a:p>
          <a:p>
            <a:pPr marL="342900" indent="-342900">
              <a:buAutoNum type="arabicPeriod"/>
            </a:pPr>
            <a:r>
              <a:rPr lang="en-US" sz="1400" b="0" dirty="0">
                <a:latin typeface="Roboto"/>
                <a:ea typeface="Roboto Black"/>
              </a:rPr>
              <a:t>Method</a:t>
            </a:r>
          </a:p>
          <a:p>
            <a:pPr marL="342900" indent="-342900">
              <a:buAutoNum type="arabicPeriod"/>
            </a:pPr>
            <a:r>
              <a:rPr lang="en-US" sz="1400" b="0" dirty="0">
                <a:latin typeface="Roboto"/>
                <a:ea typeface="Roboto Black"/>
              </a:rPr>
              <a:t>Path</a:t>
            </a:r>
          </a:p>
          <a:p>
            <a:endParaRPr lang="en-US" sz="1400" b="0" dirty="0">
              <a:latin typeface="Roboto"/>
              <a:ea typeface="Roboto Black"/>
            </a:endParaRPr>
          </a:p>
          <a:p>
            <a:pPr marL="342900" indent="-342900">
              <a:buAutoNum type="arabicPeriod"/>
            </a:pPr>
            <a:endParaRPr lang="en-US" sz="1400" b="0" dirty="0">
              <a:latin typeface="Roboto"/>
              <a:ea typeface="Roboto Black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A4A749-D220-F98F-3EB3-E8D512BFE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974" y="1964654"/>
            <a:ext cx="4632159" cy="257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217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036CFF7E-BBC0-D6BE-8F4A-F18B41040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78AADADE-6C34-80D2-191D-E6EEB46B8A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5718" y="638257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Sampler</a:t>
            </a:r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FBD5E0-A1A1-3623-6884-86097D525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47" y="1176289"/>
            <a:ext cx="5384132" cy="302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1173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F9FEE16E-22C9-5659-1023-D03737BE9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76E8E92A-429B-BFC3-4D89-0C79C4D464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5718" y="638257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Listener</a:t>
            </a:r>
            <a:endParaRPr lang="en-US" dirty="0"/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09097C5C-3DDB-3764-2616-47B7C92F959D}"/>
              </a:ext>
            </a:extLst>
          </p:cNvPr>
          <p:cNvSpPr txBox="1">
            <a:spLocks/>
          </p:cNvSpPr>
          <p:nvPr/>
        </p:nvSpPr>
        <p:spPr>
          <a:xfrm>
            <a:off x="937724" y="1191710"/>
            <a:ext cx="8078415" cy="2044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>
                <a:latin typeface="Roboto"/>
                <a:ea typeface="Roboto Black"/>
                <a:cs typeface="Roboto"/>
              </a:rPr>
              <a:t>Listener: </a:t>
            </a:r>
            <a:r>
              <a:rPr lang="en-US" sz="1400" b="0" err="1">
                <a:latin typeface="Roboto"/>
                <a:ea typeface="Roboto Black"/>
              </a:rPr>
              <a:t>komponen</a:t>
            </a:r>
            <a:r>
              <a:rPr lang="en-US" sz="1400" b="0" dirty="0">
                <a:latin typeface="Roboto"/>
                <a:ea typeface="Roboto Black"/>
              </a:rPr>
              <a:t> di JMeter yang </a:t>
            </a:r>
            <a:r>
              <a:rPr lang="en-US" sz="1400" b="0" err="1">
                <a:latin typeface="Roboto"/>
                <a:ea typeface="Roboto Black"/>
              </a:rPr>
              <a:t>berfungsi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untuk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err="1">
                <a:latin typeface="Roboto"/>
                <a:ea typeface="Roboto Black"/>
              </a:rPr>
              <a:t>mengumpulkan</a:t>
            </a:r>
            <a:r>
              <a:rPr lang="en-US" sz="1400" dirty="0">
                <a:latin typeface="Roboto"/>
                <a:ea typeface="Roboto Black"/>
              </a:rPr>
              <a:t>, </a:t>
            </a:r>
            <a:r>
              <a:rPr lang="en-US" sz="1400" err="1">
                <a:latin typeface="Roboto"/>
                <a:ea typeface="Roboto Black"/>
              </a:rPr>
              <a:t>menampilkan</a:t>
            </a:r>
            <a:r>
              <a:rPr lang="en-US" sz="1400" dirty="0">
                <a:latin typeface="Roboto"/>
                <a:ea typeface="Roboto Black"/>
              </a:rPr>
              <a:t>, dan </a:t>
            </a:r>
            <a:r>
              <a:rPr lang="en-US" sz="1400" err="1">
                <a:latin typeface="Roboto"/>
                <a:ea typeface="Roboto Black"/>
              </a:rPr>
              <a:t>menyimpan</a:t>
            </a:r>
            <a:r>
              <a:rPr lang="en-US" sz="1400" dirty="0">
                <a:latin typeface="Roboto"/>
                <a:ea typeface="Roboto Black"/>
              </a:rPr>
              <a:t> </a:t>
            </a:r>
            <a:r>
              <a:rPr lang="en-US" sz="1400" err="1">
                <a:latin typeface="Roboto"/>
                <a:ea typeface="Roboto Black"/>
              </a:rPr>
              <a:t>hasil</a:t>
            </a:r>
            <a:r>
              <a:rPr lang="en-US" sz="1400" dirty="0">
                <a:latin typeface="Roboto"/>
                <a:ea typeface="Roboto Black"/>
              </a:rPr>
              <a:t> </a:t>
            </a:r>
            <a:r>
              <a:rPr lang="en-US" sz="1400" err="1">
                <a:latin typeface="Roboto"/>
                <a:ea typeface="Roboto Black"/>
              </a:rPr>
              <a:t>eksekusi</a:t>
            </a:r>
            <a:r>
              <a:rPr lang="en-US" sz="1400" dirty="0">
                <a:latin typeface="Roboto"/>
                <a:ea typeface="Roboto Black"/>
              </a:rPr>
              <a:t> test.</a:t>
            </a:r>
            <a:endParaRPr lang="en-US">
              <a:latin typeface="Roboto"/>
            </a:endParaRPr>
          </a:p>
          <a:p>
            <a:endParaRPr lang="en-US" sz="1400" dirty="0">
              <a:latin typeface="Roboto"/>
              <a:ea typeface="Roboto Black"/>
            </a:endParaRPr>
          </a:p>
          <a:p>
            <a:r>
              <a:rPr lang="en-US" sz="1400" b="0" dirty="0">
                <a:latin typeface="Roboto"/>
                <a:ea typeface="Roboto Black"/>
              </a:rPr>
              <a:t>Ada </a:t>
            </a:r>
            <a:r>
              <a:rPr lang="en-US" sz="1400" b="0" err="1">
                <a:latin typeface="Roboto"/>
                <a:ea typeface="Roboto Black"/>
              </a:rPr>
              <a:t>beberapa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pilihan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antara</a:t>
            </a:r>
            <a:r>
              <a:rPr lang="en-US" sz="1400" b="0" dirty="0">
                <a:latin typeface="Roboto"/>
                <a:ea typeface="Roboto Black"/>
              </a:rPr>
              <a:t> lain:</a:t>
            </a:r>
          </a:p>
          <a:p>
            <a:pPr marL="342900" indent="-342900">
              <a:buAutoNum type="arabicPeriod"/>
            </a:pPr>
            <a:r>
              <a:rPr lang="en-US" sz="1400" b="0" dirty="0">
                <a:latin typeface="Roboto"/>
                <a:ea typeface="Roboto Black"/>
              </a:rPr>
              <a:t>View Result Tree</a:t>
            </a:r>
          </a:p>
          <a:p>
            <a:pPr marL="342900" indent="-342900">
              <a:buAutoNum type="arabicPeriod"/>
            </a:pPr>
            <a:r>
              <a:rPr lang="en-US" sz="1400" b="0" dirty="0">
                <a:latin typeface="Roboto"/>
                <a:ea typeface="Roboto Black"/>
              </a:rPr>
              <a:t>Summary Report</a:t>
            </a:r>
          </a:p>
          <a:p>
            <a:pPr marL="342900" indent="-342900">
              <a:buAutoNum type="arabicPeriod"/>
            </a:pPr>
            <a:endParaRPr lang="en-US" sz="1400" dirty="0">
              <a:latin typeface="Roboto"/>
              <a:ea typeface="Roboto Black"/>
            </a:endParaRPr>
          </a:p>
          <a:p>
            <a:endParaRPr lang="en-US" sz="1400" dirty="0">
              <a:latin typeface="Roboto"/>
              <a:ea typeface="Roboto Black"/>
            </a:endParaRPr>
          </a:p>
          <a:p>
            <a:endParaRPr lang="en-US" sz="1400" b="0" dirty="0">
              <a:latin typeface="Roboto"/>
              <a:ea typeface="Roboto Black"/>
            </a:endParaRPr>
          </a:p>
          <a:p>
            <a:endParaRPr lang="en-US" sz="1400" b="0" dirty="0">
              <a:latin typeface="Roboto"/>
              <a:ea typeface="Roboto Black"/>
            </a:endParaRPr>
          </a:p>
          <a:p>
            <a:pPr marL="342900" indent="-342900">
              <a:buAutoNum type="arabicPeriod"/>
            </a:pPr>
            <a:endParaRPr lang="en-US" sz="1400" b="0" dirty="0">
              <a:latin typeface="Roboto"/>
              <a:ea typeface="Roboto Black"/>
            </a:endParaRPr>
          </a:p>
          <a:p>
            <a:pPr marL="342900" indent="-342900">
              <a:buAutoNum type="arabicPeriod"/>
            </a:pPr>
            <a:endParaRPr lang="en-US" sz="1400" b="0" dirty="0">
              <a:latin typeface="Roboto"/>
              <a:ea typeface="Roboto Black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77A662-D07B-007B-B807-9833A1078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1796419"/>
            <a:ext cx="4271212" cy="235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583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39C3F2F-814C-95A6-4C49-EBDFC00B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C3020B1B-7611-D8FA-19A1-02E62E16EC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5718" y="638257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Run </a:t>
            </a:r>
            <a:r>
              <a:rPr lang="en-US" sz="1600" b="0" dirty="0" err="1">
                <a:latin typeface="Roboto Black"/>
                <a:ea typeface="Roboto Black"/>
                <a:cs typeface="Roboto"/>
              </a:rPr>
              <a:t>Jmeter</a:t>
            </a:r>
            <a:endParaRPr lang="en-US" dirty="0" err="1"/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8D2B10FD-88AE-CD8C-8837-91F226473601}"/>
              </a:ext>
            </a:extLst>
          </p:cNvPr>
          <p:cNvSpPr txBox="1">
            <a:spLocks/>
          </p:cNvSpPr>
          <p:nvPr/>
        </p:nvSpPr>
        <p:spPr>
          <a:xfrm>
            <a:off x="937724" y="1191710"/>
            <a:ext cx="8078415" cy="2044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>
                <a:latin typeface="Roboto"/>
                <a:ea typeface="Roboto Black"/>
                <a:cs typeface="Roboto"/>
              </a:rPr>
              <a:t>Bisa </a:t>
            </a:r>
            <a:r>
              <a:rPr lang="en-US" sz="1400" b="0" dirty="0" err="1">
                <a:latin typeface="Roboto"/>
                <a:ea typeface="Roboto Black"/>
                <a:cs typeface="Roboto"/>
              </a:rPr>
              <a:t>dengan</a:t>
            </a:r>
            <a:r>
              <a:rPr lang="en-US" sz="1400" b="0" dirty="0">
                <a:latin typeface="Roboto"/>
                <a:ea typeface="Roboto Black"/>
                <a:cs typeface="Roboto"/>
              </a:rPr>
              <a:t> </a:t>
            </a:r>
            <a:r>
              <a:rPr lang="en-US" sz="1400" b="0" dirty="0" err="1">
                <a:latin typeface="Roboto"/>
                <a:ea typeface="Roboto Black"/>
                <a:cs typeface="Roboto"/>
              </a:rPr>
              <a:t>menekan</a:t>
            </a:r>
            <a:r>
              <a:rPr lang="en-US" sz="1400" b="0" dirty="0">
                <a:latin typeface="Roboto"/>
                <a:ea typeface="Roboto Black"/>
                <a:cs typeface="Roboto"/>
              </a:rPr>
              <a:t> </a:t>
            </a:r>
            <a:r>
              <a:rPr lang="en-US" sz="1400" b="0" dirty="0" err="1">
                <a:latin typeface="Roboto"/>
                <a:ea typeface="Roboto Black"/>
                <a:cs typeface="Roboto"/>
              </a:rPr>
              <a:t>tombol</a:t>
            </a:r>
            <a:r>
              <a:rPr lang="en-US" sz="1400" b="0" dirty="0">
                <a:latin typeface="Roboto"/>
                <a:ea typeface="Roboto Black"/>
                <a:cs typeface="Roboto"/>
              </a:rPr>
              <a:t> play button </a:t>
            </a:r>
            <a:r>
              <a:rPr lang="en-US" sz="1400" b="0" dirty="0" err="1">
                <a:latin typeface="Roboto"/>
                <a:ea typeface="Roboto Black"/>
                <a:cs typeface="Roboto"/>
              </a:rPr>
              <a:t>berwarna</a:t>
            </a:r>
            <a:r>
              <a:rPr lang="en-US" sz="1400" b="0" dirty="0">
                <a:latin typeface="Roboto"/>
                <a:ea typeface="Roboto Black"/>
                <a:cs typeface="Roboto"/>
              </a:rPr>
              <a:t> </a:t>
            </a:r>
            <a:r>
              <a:rPr lang="en-US" sz="1400" b="0" dirty="0" err="1">
                <a:latin typeface="Roboto"/>
                <a:ea typeface="Roboto Black"/>
                <a:cs typeface="Roboto"/>
              </a:rPr>
              <a:t>hijau</a:t>
            </a:r>
            <a:endParaRPr lang="en-US" dirty="0" err="1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B0948C-0A89-F407-AF18-5D5C57D30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23" y="1684421"/>
            <a:ext cx="4988763" cy="281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233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EBDA278E-C090-BBA7-CB56-18209FBDA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7DA1918A-0B34-D4B7-564F-43884DF59E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5718" y="638257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Hasil Run Jmeter</a:t>
            </a:r>
            <a:endParaRPr lang="en-US" dirty="0" err="1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0BBDE7-29E8-7C84-4E0A-8443A4B49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47" y="1173079"/>
            <a:ext cx="6112880" cy="344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322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50DC349A-AC21-3FCE-F28E-48BDCE072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0E90CAB3-4C3F-6355-FBEF-81FCB9E93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4560" y="758573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Assertion</a:t>
            </a:r>
            <a:endParaRPr lang="en-US" dirty="0"/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6CEB92CB-DA79-62F0-3F4A-0587AAE0DCD0}"/>
              </a:ext>
            </a:extLst>
          </p:cNvPr>
          <p:cNvSpPr txBox="1">
            <a:spLocks/>
          </p:cNvSpPr>
          <p:nvPr/>
        </p:nvSpPr>
        <p:spPr>
          <a:xfrm>
            <a:off x="496566" y="1141578"/>
            <a:ext cx="9171284" cy="160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>
                <a:latin typeface="Roboto"/>
                <a:ea typeface="Roboto Black"/>
                <a:cs typeface="Roboto"/>
              </a:rPr>
              <a:t>Assertion </a:t>
            </a:r>
            <a:r>
              <a:rPr lang="en-US" sz="1400" b="0" err="1">
                <a:latin typeface="Roboto"/>
                <a:ea typeface="Roboto Black"/>
              </a:rPr>
              <a:t>Komponen</a:t>
            </a:r>
            <a:r>
              <a:rPr lang="en-US" sz="1400" b="0" dirty="0">
                <a:latin typeface="Roboto"/>
                <a:ea typeface="Roboto Black"/>
              </a:rPr>
              <a:t> yang </a:t>
            </a:r>
            <a:r>
              <a:rPr lang="en-US" sz="1400" b="0" err="1">
                <a:latin typeface="Roboto"/>
                <a:ea typeface="Roboto Black"/>
              </a:rPr>
              <a:t>bertugas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untuk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melakukan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validasi</a:t>
            </a:r>
            <a:r>
              <a:rPr lang="en-US" sz="1400" b="0" dirty="0">
                <a:latin typeface="Roboto"/>
                <a:ea typeface="Roboto Black"/>
              </a:rPr>
              <a:t> response </a:t>
            </a:r>
            <a:r>
              <a:rPr lang="en-US" sz="1400" b="0" err="1">
                <a:latin typeface="Roboto"/>
                <a:ea typeface="Roboto Black"/>
              </a:rPr>
              <a:t>atau</a:t>
            </a:r>
            <a:r>
              <a:rPr lang="en-US" sz="1400" b="0" dirty="0">
                <a:latin typeface="Roboto"/>
                <a:ea typeface="Roboto Black"/>
              </a:rPr>
              <a:t> performance test metrics</a:t>
            </a:r>
            <a:endParaRPr lang="en-US" sz="1400" b="0">
              <a:latin typeface="Roboto"/>
              <a:ea typeface="Roboto Black"/>
            </a:endParaRPr>
          </a:p>
          <a:p>
            <a:endParaRPr lang="en-US" sz="1400" b="0" dirty="0">
              <a:latin typeface="Roboto"/>
              <a:ea typeface="Roboto Black"/>
            </a:endParaRPr>
          </a:p>
          <a:p>
            <a:r>
              <a:rPr lang="en-US" sz="1400" b="0" err="1">
                <a:latin typeface="Roboto"/>
                <a:ea typeface="Roboto Black"/>
              </a:rPr>
              <a:t>Beberapa</a:t>
            </a:r>
            <a:r>
              <a:rPr lang="en-US" sz="1400" b="0" dirty="0">
                <a:latin typeface="Roboto"/>
                <a:ea typeface="Roboto Black"/>
              </a:rPr>
              <a:t> assertion yang </a:t>
            </a:r>
            <a:r>
              <a:rPr lang="en-US" sz="1400" b="0" err="1">
                <a:latin typeface="Roboto"/>
                <a:ea typeface="Roboto Black"/>
              </a:rPr>
              <a:t>biasa</a:t>
            </a:r>
            <a:r>
              <a:rPr lang="en-US" sz="1400" b="0" dirty="0">
                <a:latin typeface="Roboto"/>
                <a:ea typeface="Roboto Black"/>
              </a:rPr>
              <a:t> di </a:t>
            </a:r>
            <a:r>
              <a:rPr lang="en-US" sz="1400" b="0" err="1">
                <a:latin typeface="Roboto"/>
                <a:ea typeface="Roboto Black"/>
              </a:rPr>
              <a:t>gunakan</a:t>
            </a:r>
            <a:r>
              <a:rPr lang="en-US" sz="1400" b="0" dirty="0">
                <a:latin typeface="Roboto"/>
                <a:ea typeface="Roboto Black"/>
              </a:rPr>
              <a:t>:</a:t>
            </a:r>
            <a:endParaRPr lang="en-US" sz="1400" b="0">
              <a:latin typeface="Roboto"/>
              <a:ea typeface="Roboto Black"/>
            </a:endParaRPr>
          </a:p>
          <a:p>
            <a:endParaRPr lang="en-US" sz="1400" b="0" dirty="0">
              <a:latin typeface="Roboto"/>
              <a:ea typeface="Roboto Black"/>
            </a:endParaRPr>
          </a:p>
          <a:p>
            <a:pPr marL="342900" indent="-342900">
              <a:buAutoNum type="arabicPeriod"/>
            </a:pPr>
            <a:r>
              <a:rPr lang="en-US" sz="1400" b="0" dirty="0">
                <a:latin typeface="Roboto"/>
                <a:ea typeface="Roboto Black"/>
              </a:rPr>
              <a:t>Response Assertion</a:t>
            </a:r>
          </a:p>
          <a:p>
            <a:pPr marL="342900" indent="-342900">
              <a:buAutoNum type="arabicPeriod"/>
            </a:pPr>
            <a:r>
              <a:rPr lang="en-US" sz="1400" b="0" dirty="0">
                <a:latin typeface="Roboto"/>
                <a:ea typeface="Roboto Black"/>
              </a:rPr>
              <a:t>JSON Assertion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E9D835-B066-D981-6A97-19E86AFFD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091" y="1945105"/>
            <a:ext cx="4719923" cy="267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030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C54D724E-F828-9743-1790-D19972EAF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131C1A10-8156-271C-7CC5-086B21F7F2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4560" y="758573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Assertion</a:t>
            </a:r>
            <a:endParaRPr lang="en-US" dirty="0"/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A07FB870-9E9A-8CF0-5908-2E80BA271194}"/>
              </a:ext>
            </a:extLst>
          </p:cNvPr>
          <p:cNvSpPr txBox="1">
            <a:spLocks/>
          </p:cNvSpPr>
          <p:nvPr/>
        </p:nvSpPr>
        <p:spPr>
          <a:xfrm>
            <a:off x="496566" y="1141578"/>
            <a:ext cx="9171284" cy="160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en-US" sz="1400" b="0">
              <a:latin typeface="Roboto"/>
              <a:ea typeface="Roboto Black"/>
            </a:endParaRPr>
          </a:p>
          <a:p>
            <a:r>
              <a:rPr lang="en-US" sz="1400" b="0" dirty="0">
                <a:latin typeface="Roboto Black"/>
                <a:ea typeface="Roboto Black"/>
              </a:rPr>
              <a:t>Response Assertion</a:t>
            </a:r>
          </a:p>
          <a:p>
            <a:pPr marL="285750" indent="-285750">
              <a:buFont typeface="Calibri"/>
              <a:buChar char="-"/>
            </a:pPr>
            <a:r>
              <a:rPr lang="en-US" sz="1400" b="0" dirty="0">
                <a:latin typeface="Roboto"/>
                <a:ea typeface="Roboto Black"/>
              </a:rPr>
              <a:t>Apply To: Mainly sample only</a:t>
            </a:r>
          </a:p>
          <a:p>
            <a:pPr marL="285750" indent="-285750">
              <a:buFont typeface="Calibri"/>
              <a:buChar char="-"/>
            </a:pPr>
            <a:r>
              <a:rPr lang="en-US" sz="1400" b="0" dirty="0">
                <a:latin typeface="Roboto"/>
                <a:ea typeface="Roboto Black"/>
              </a:rPr>
              <a:t>Field to test: Response Code</a:t>
            </a:r>
          </a:p>
          <a:p>
            <a:pPr marL="285750" indent="-285750">
              <a:buFont typeface="Calibri"/>
              <a:buChar char="-"/>
            </a:pPr>
            <a:r>
              <a:rPr lang="en-US" sz="1400" b="0" dirty="0">
                <a:latin typeface="Roboto"/>
                <a:ea typeface="Roboto Black"/>
              </a:rPr>
              <a:t>Pattern Matching Rules: Equals</a:t>
            </a:r>
          </a:p>
          <a:p>
            <a:pPr marL="285750" indent="-285750">
              <a:buFont typeface="Calibri"/>
              <a:buChar char="-"/>
            </a:pPr>
            <a:r>
              <a:rPr lang="en-US" sz="1400" b="0" dirty="0">
                <a:latin typeface="Roboto"/>
                <a:ea typeface="Roboto Black"/>
              </a:rPr>
              <a:t>Patterns to Test: 200</a:t>
            </a:r>
          </a:p>
          <a:p>
            <a:pPr marL="285750" indent="-285750">
              <a:buFont typeface="Calibri"/>
              <a:buChar char="-"/>
            </a:pPr>
            <a:endParaRPr lang="en-US" sz="1400" b="0" dirty="0">
              <a:latin typeface="Roboto Black"/>
              <a:ea typeface="Roboto Black"/>
            </a:endParaRPr>
          </a:p>
          <a:p>
            <a:endParaRPr lang="en-US" sz="1400" b="0" dirty="0">
              <a:latin typeface="Roboto"/>
              <a:ea typeface="Roboto Black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711411-3478-06A1-9D48-8ACC5EA95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394" y="1352197"/>
            <a:ext cx="5143501" cy="279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135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65E91CF1-4A7F-71D3-42BE-E7EEF0B06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3F902771-85AD-0E03-983E-F4305B34BD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5007" y="517941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Assertion</a:t>
            </a:r>
            <a:endParaRPr lang="en-US" dirty="0"/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EC11C1F1-6B2B-299C-EA09-100C779C98BA}"/>
              </a:ext>
            </a:extLst>
          </p:cNvPr>
          <p:cNvSpPr txBox="1">
            <a:spLocks/>
          </p:cNvSpPr>
          <p:nvPr/>
        </p:nvSpPr>
        <p:spPr>
          <a:xfrm>
            <a:off x="496566" y="800683"/>
            <a:ext cx="6564442" cy="160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en-US" sz="1400" b="0">
              <a:latin typeface="Roboto"/>
              <a:ea typeface="Roboto Black"/>
            </a:endParaRPr>
          </a:p>
          <a:p>
            <a:r>
              <a:rPr lang="en-US" sz="1400" b="0" dirty="0">
                <a:latin typeface="Roboto Black"/>
                <a:ea typeface="Roboto Black"/>
              </a:rPr>
              <a:t>JSON Assertion</a:t>
            </a:r>
          </a:p>
          <a:p>
            <a:pPr marL="285750" indent="-285750">
              <a:buFont typeface="Calibri"/>
              <a:buChar char="-"/>
            </a:pPr>
            <a:r>
              <a:rPr lang="en-US" sz="1400" b="0" dirty="0">
                <a:latin typeface="Roboto"/>
                <a:ea typeface="Roboto Black"/>
              </a:rPr>
              <a:t>Assert JSON Path exists: </a:t>
            </a:r>
            <a:r>
              <a:rPr lang="en-US" sz="1400" b="0" dirty="0" err="1">
                <a:latin typeface="Roboto"/>
                <a:ea typeface="Roboto Black"/>
              </a:rPr>
              <a:t>isi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dirty="0" err="1">
                <a:latin typeface="Roboto"/>
                <a:ea typeface="Roboto Black"/>
              </a:rPr>
              <a:t>properti</a:t>
            </a:r>
            <a:r>
              <a:rPr lang="en-US" sz="1400" b="0" dirty="0">
                <a:latin typeface="Roboto"/>
                <a:ea typeface="Roboto Black"/>
              </a:rPr>
              <a:t> yang </a:t>
            </a:r>
            <a:r>
              <a:rPr lang="en-US" sz="1400" b="0" dirty="0" err="1">
                <a:latin typeface="Roboto"/>
                <a:ea typeface="Roboto Black"/>
              </a:rPr>
              <a:t>mau</a:t>
            </a:r>
            <a:r>
              <a:rPr lang="en-US" sz="1400" b="0" dirty="0">
                <a:latin typeface="Roboto"/>
                <a:ea typeface="Roboto Black"/>
              </a:rPr>
              <a:t> di </a:t>
            </a:r>
            <a:r>
              <a:rPr lang="en-US" sz="1400" b="0" dirty="0" err="1">
                <a:latin typeface="Roboto"/>
                <a:ea typeface="Roboto Black"/>
              </a:rPr>
              <a:t>validasi</a:t>
            </a:r>
            <a:r>
              <a:rPr lang="en-US" sz="1400" b="0" dirty="0">
                <a:latin typeface="Roboto"/>
                <a:ea typeface="Roboto Black"/>
              </a:rPr>
              <a:t> (Ex: $.users[0].username)</a:t>
            </a:r>
          </a:p>
          <a:p>
            <a:pPr marL="285750" indent="-285750">
              <a:buFont typeface="Calibri"/>
              <a:buChar char="-"/>
            </a:pPr>
            <a:r>
              <a:rPr lang="en-US" sz="1400" b="0" dirty="0">
                <a:latin typeface="Roboto"/>
                <a:ea typeface="Roboto Black"/>
              </a:rPr>
              <a:t>Expected  Value: </a:t>
            </a:r>
            <a:r>
              <a:rPr lang="en-US" sz="1400" b="0" err="1">
                <a:latin typeface="Roboto"/>
                <a:ea typeface="Roboto Black"/>
              </a:rPr>
              <a:t>isi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dengan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nilai</a:t>
            </a:r>
            <a:r>
              <a:rPr lang="en-US" sz="1400" b="0" dirty="0">
                <a:latin typeface="Roboto"/>
                <a:ea typeface="Roboto Black"/>
              </a:rPr>
              <a:t> yang di </a:t>
            </a:r>
            <a:r>
              <a:rPr lang="en-US" sz="1400" b="0" err="1">
                <a:latin typeface="Roboto"/>
                <a:ea typeface="Roboto Black"/>
              </a:rPr>
              <a:t>harapkan</a:t>
            </a:r>
            <a:endParaRPr lang="en-US" sz="1400" b="0">
              <a:latin typeface="Roboto"/>
              <a:ea typeface="Roboto Black"/>
            </a:endParaRPr>
          </a:p>
          <a:p>
            <a:pPr marL="285750" indent="-285750">
              <a:buFont typeface="Calibri"/>
              <a:buChar char="-"/>
            </a:pPr>
            <a:r>
              <a:rPr lang="en-US" sz="1400" b="0" dirty="0">
                <a:latin typeface="Roboto"/>
                <a:ea typeface="Roboto Black"/>
              </a:rPr>
              <a:t>Additionally Assert Value: check</a:t>
            </a:r>
          </a:p>
          <a:p>
            <a:pPr marL="285750" indent="-285750">
              <a:buFont typeface="Calibri"/>
              <a:buChar char="-"/>
            </a:pPr>
            <a:endParaRPr lang="en-US" sz="1400" b="0" dirty="0">
              <a:latin typeface="Roboto"/>
              <a:ea typeface="Roboto Black"/>
            </a:endParaRPr>
          </a:p>
          <a:p>
            <a:pPr marL="285750" indent="-285750">
              <a:buFont typeface="Calibri"/>
              <a:buChar char="-"/>
            </a:pPr>
            <a:endParaRPr lang="en-US" sz="1400" b="0" dirty="0">
              <a:latin typeface="Roboto"/>
              <a:ea typeface="Roboto Black"/>
            </a:endParaRPr>
          </a:p>
          <a:p>
            <a:endParaRPr lang="en-US" sz="1400" b="0" dirty="0">
              <a:latin typeface="Roboto"/>
              <a:ea typeface="Roboto Black"/>
            </a:endParaRPr>
          </a:p>
        </p:txBody>
      </p:sp>
      <p:sp>
        <p:nvSpPr>
          <p:cNvPr id="3" name="Google Shape;119;p17">
            <a:extLst>
              <a:ext uri="{FF2B5EF4-FFF2-40B4-BE49-F238E27FC236}">
                <a16:creationId xmlns:a16="http://schemas.microsoft.com/office/drawing/2014/main" id="{9682A093-B3D7-F93A-36A9-0A745AC0C008}"/>
              </a:ext>
            </a:extLst>
          </p:cNvPr>
          <p:cNvSpPr txBox="1">
            <a:spLocks/>
          </p:cNvSpPr>
          <p:nvPr/>
        </p:nvSpPr>
        <p:spPr>
          <a:xfrm>
            <a:off x="667013" y="2254500"/>
            <a:ext cx="5451521" cy="2555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Kita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akan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validasi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nilai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id pada data,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berikut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  <a:r>
              <a:rPr lang="en-US" sz="1400" b="0" err="1">
                <a:solidFill>
                  <a:schemeClr val="tx1"/>
                </a:solidFill>
                <a:latin typeface="Roboto"/>
                <a:ea typeface="Roboto Black"/>
              </a:rPr>
              <a:t>responenya</a:t>
            </a:r>
            <a:r>
              <a:rPr lang="en-US" sz="1400" b="0" dirty="0">
                <a:solidFill>
                  <a:schemeClr val="tx1"/>
                </a:solidFill>
                <a:latin typeface="Roboto"/>
                <a:ea typeface="Roboto Black"/>
              </a:rPr>
              <a:t>:</a:t>
            </a:r>
          </a:p>
          <a:p>
            <a:endParaRPr lang="en-US" sz="1400" b="0" dirty="0">
              <a:solidFill>
                <a:schemeClr val="tx1"/>
              </a:solidFill>
              <a:latin typeface="Roboto"/>
              <a:ea typeface="Roboto Black"/>
            </a:endParaRPr>
          </a:p>
          <a:p>
            <a:r>
              <a:rPr lang="en-US" sz="900" b="0">
                <a:solidFill>
                  <a:schemeClr val="tx1"/>
                </a:solidFill>
                <a:ea typeface="Roboto Black"/>
              </a:rPr>
              <a:t>{</a:t>
            </a:r>
            <a:endParaRPr lang="en-US" sz="900">
              <a:solidFill>
                <a:schemeClr val="tx1"/>
              </a:solidFill>
            </a:endParaRPr>
          </a:p>
          <a:p>
            <a:r>
              <a:rPr lang="en-US" sz="900" b="0">
                <a:solidFill>
                  <a:schemeClr val="tx1"/>
                </a:solidFill>
                <a:ea typeface="Roboto Black"/>
              </a:rPr>
              <a:t>  "status": 200,</a:t>
            </a:r>
            <a:endParaRPr lang="en-US" sz="900">
              <a:solidFill>
                <a:schemeClr val="tx1"/>
              </a:solidFill>
            </a:endParaRPr>
          </a:p>
          <a:p>
            <a:r>
              <a:rPr lang="en-US" sz="900" b="0" dirty="0">
                <a:solidFill>
                  <a:schemeClr val="tx1"/>
                </a:solidFill>
                <a:ea typeface="Roboto Black"/>
              </a:rPr>
              <a:t>  "users": [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900" b="0" dirty="0">
                <a:solidFill>
                  <a:schemeClr val="tx1"/>
                </a:solidFill>
                <a:ea typeface="Roboto Black"/>
              </a:rPr>
              <a:t>    {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900" b="0" dirty="0">
                <a:solidFill>
                  <a:schemeClr val="tx1"/>
                </a:solidFill>
                <a:ea typeface="Roboto Black"/>
              </a:rPr>
              <a:t>      "_id": "6906253b673f8dae6a1023d8",</a:t>
            </a:r>
            <a:endParaRPr lang="en-US" sz="900" dirty="0">
              <a:solidFill>
                <a:schemeClr val="tx1"/>
              </a:solidFill>
            </a:endParaRPr>
          </a:p>
          <a:p>
            <a:r>
              <a:rPr lang="en-US" sz="900" b="0" dirty="0">
                <a:solidFill>
                  <a:schemeClr val="tx1"/>
                </a:solidFill>
                <a:ea typeface="Roboto Black"/>
              </a:rPr>
              <a:t>      "username": "Ridhwan",</a:t>
            </a:r>
            <a:endParaRPr lang="en-US" sz="900" dirty="0">
              <a:solidFill>
                <a:schemeClr val="tx1"/>
              </a:solidFill>
            </a:endParaRPr>
          </a:p>
          <a:p>
            <a:r>
              <a:rPr lang="en-US" sz="900" b="0" dirty="0">
                <a:solidFill>
                  <a:schemeClr val="tx1"/>
                </a:solidFill>
                <a:ea typeface="Roboto Black"/>
              </a:rPr>
              <a:t>      "age": 29,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900" b="0" dirty="0">
                <a:solidFill>
                  <a:schemeClr val="tx1"/>
                </a:solidFill>
                <a:ea typeface="Roboto Black"/>
              </a:rPr>
              <a:t>      "protected": true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900" b="0" dirty="0">
                <a:solidFill>
                  <a:schemeClr val="tx1"/>
                </a:solidFill>
                <a:ea typeface="Roboto Black"/>
              </a:rPr>
              <a:t>    }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900" b="0" dirty="0">
                <a:solidFill>
                  <a:schemeClr val="tx1"/>
                </a:solidFill>
                <a:ea typeface="Roboto Black"/>
              </a:rPr>
              <a:t>  ]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900" b="0" dirty="0">
                <a:solidFill>
                  <a:schemeClr val="tx1"/>
                </a:solidFill>
                <a:ea typeface="Roboto Black"/>
              </a:rPr>
              <a:t>}</a:t>
            </a:r>
            <a:r>
              <a:rPr lang="en-US" sz="900" b="0" dirty="0">
                <a:solidFill>
                  <a:schemeClr val="tx1"/>
                </a:solidFill>
                <a:latin typeface="Consolas"/>
                <a:ea typeface="Roboto Black"/>
              </a:rPr>
              <a:t>
      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2B662D-0FBE-A5E5-D059-745F82D06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711" y="2575280"/>
            <a:ext cx="3629527" cy="207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864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C9AADB9A-F1B2-F849-47C4-E30CD7320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27AF309D-8845-0C76-0537-3F4F9F61A8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173" y="509694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Assertion</a:t>
            </a:r>
            <a:endParaRPr lang="en-US" dirty="0"/>
          </a:p>
        </p:txBody>
      </p:sp>
      <p:sp>
        <p:nvSpPr>
          <p:cNvPr id="4" name="Google Shape;119;p17">
            <a:extLst>
              <a:ext uri="{FF2B5EF4-FFF2-40B4-BE49-F238E27FC236}">
                <a16:creationId xmlns:a16="http://schemas.microsoft.com/office/drawing/2014/main" id="{AD4F8766-9AB7-41EC-EC58-C4B5AC48F3FE}"/>
              </a:ext>
            </a:extLst>
          </p:cNvPr>
          <p:cNvSpPr txBox="1">
            <a:spLocks/>
          </p:cNvSpPr>
          <p:nvPr/>
        </p:nvSpPr>
        <p:spPr>
          <a:xfrm>
            <a:off x="607179" y="892699"/>
            <a:ext cx="6760602" cy="171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en-US" sz="1400" b="0">
              <a:latin typeface="Roboto"/>
              <a:ea typeface="Roboto Black"/>
            </a:endParaRPr>
          </a:p>
          <a:p>
            <a:r>
              <a:rPr lang="en-US" sz="1400" b="0" dirty="0">
                <a:latin typeface="Roboto Black"/>
                <a:ea typeface="Roboto Black"/>
              </a:rPr>
              <a:t>JSON Assertion</a:t>
            </a:r>
          </a:p>
          <a:p>
            <a:pPr marL="285750" indent="-285750">
              <a:buFont typeface="Calibri"/>
              <a:buChar char="-"/>
            </a:pPr>
            <a:r>
              <a:rPr lang="en-US" sz="1400" b="0" dirty="0">
                <a:latin typeface="Roboto"/>
                <a:ea typeface="Roboto Black"/>
              </a:rPr>
              <a:t>Assert JSON Path exists: </a:t>
            </a:r>
            <a:r>
              <a:rPr lang="en-US" sz="1400" b="0" dirty="0" err="1">
                <a:latin typeface="Roboto"/>
                <a:ea typeface="Roboto Black"/>
              </a:rPr>
              <a:t>isi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dirty="0" err="1">
                <a:latin typeface="Roboto"/>
                <a:ea typeface="Roboto Black"/>
              </a:rPr>
              <a:t>properti</a:t>
            </a:r>
            <a:r>
              <a:rPr lang="en-US" sz="1400" b="0" dirty="0">
                <a:latin typeface="Roboto"/>
                <a:ea typeface="Roboto Black"/>
              </a:rPr>
              <a:t> yang </a:t>
            </a:r>
            <a:r>
              <a:rPr lang="en-US" sz="1400" b="0" dirty="0" err="1">
                <a:latin typeface="Roboto"/>
                <a:ea typeface="Roboto Black"/>
              </a:rPr>
              <a:t>mau</a:t>
            </a:r>
            <a:r>
              <a:rPr lang="en-US" sz="1400" b="0" dirty="0">
                <a:latin typeface="Roboto"/>
                <a:ea typeface="Roboto Black"/>
              </a:rPr>
              <a:t> di </a:t>
            </a:r>
            <a:r>
              <a:rPr lang="en-US" sz="1400" b="0" dirty="0" err="1">
                <a:latin typeface="Roboto"/>
                <a:ea typeface="Roboto Black"/>
              </a:rPr>
              <a:t>validasi</a:t>
            </a:r>
            <a:endParaRPr lang="en-US" sz="1400" b="0" dirty="0">
              <a:latin typeface="Roboto"/>
              <a:ea typeface="Roboto Black"/>
            </a:endParaRPr>
          </a:p>
          <a:p>
            <a:pPr marL="285750" indent="-285750">
              <a:buFont typeface="Calibri"/>
              <a:buChar char="-"/>
            </a:pPr>
            <a:r>
              <a:rPr lang="en-US" sz="1400" b="0" dirty="0">
                <a:latin typeface="Roboto"/>
                <a:ea typeface="Roboto Black"/>
              </a:rPr>
              <a:t>Expected  Value: </a:t>
            </a:r>
            <a:r>
              <a:rPr lang="en-US" sz="1400" b="0" err="1">
                <a:latin typeface="Roboto"/>
                <a:ea typeface="Roboto Black"/>
              </a:rPr>
              <a:t>isi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dengan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err="1">
                <a:latin typeface="Roboto"/>
                <a:ea typeface="Roboto Black"/>
              </a:rPr>
              <a:t>nilai</a:t>
            </a:r>
            <a:r>
              <a:rPr lang="en-US" sz="1400" b="0" dirty="0">
                <a:latin typeface="Roboto"/>
                <a:ea typeface="Roboto Black"/>
              </a:rPr>
              <a:t> yang di </a:t>
            </a:r>
            <a:r>
              <a:rPr lang="en-US" sz="1400" b="0" err="1">
                <a:latin typeface="Roboto"/>
                <a:ea typeface="Roboto Black"/>
              </a:rPr>
              <a:t>harapkan</a:t>
            </a:r>
            <a:endParaRPr lang="en-US" sz="1400" b="0">
              <a:latin typeface="Roboto"/>
              <a:ea typeface="Roboto Black"/>
            </a:endParaRPr>
          </a:p>
          <a:p>
            <a:pPr marL="285750" indent="-285750">
              <a:buFont typeface="Calibri"/>
              <a:buChar char="-"/>
            </a:pPr>
            <a:r>
              <a:rPr lang="en-US" sz="1400" b="0" dirty="0">
                <a:latin typeface="Roboto"/>
                <a:ea typeface="Roboto Black"/>
              </a:rPr>
              <a:t>Additionally Assert Value: check</a:t>
            </a:r>
          </a:p>
          <a:p>
            <a:pPr marL="285750" indent="-285750">
              <a:buFont typeface="Calibri"/>
              <a:buChar char="-"/>
            </a:pPr>
            <a:endParaRPr lang="en-US" sz="1400" b="0" dirty="0">
              <a:latin typeface="Roboto"/>
              <a:ea typeface="Roboto Black"/>
            </a:endParaRPr>
          </a:p>
          <a:p>
            <a:endParaRPr lang="en-US" sz="1400" b="0" dirty="0">
              <a:latin typeface="Roboto"/>
              <a:ea typeface="Roboto Black"/>
            </a:endParaRPr>
          </a:p>
          <a:p>
            <a:r>
              <a:rPr lang="en-US" sz="1400" b="0" dirty="0">
                <a:latin typeface="Roboto"/>
                <a:ea typeface="Roboto Black"/>
              </a:rPr>
              <a:t>Kita </a:t>
            </a:r>
            <a:r>
              <a:rPr lang="en-US" sz="1400" b="0" dirty="0" err="1">
                <a:latin typeface="Roboto"/>
                <a:ea typeface="Roboto Black"/>
              </a:rPr>
              <a:t>akan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dirty="0" err="1">
                <a:latin typeface="Roboto"/>
                <a:ea typeface="Roboto Black"/>
              </a:rPr>
              <a:t>memvalidasi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dirty="0" err="1">
                <a:latin typeface="Roboto"/>
                <a:ea typeface="Roboto Black"/>
              </a:rPr>
              <a:t>properti</a:t>
            </a:r>
            <a:r>
              <a:rPr lang="en-US" sz="1400" b="0" dirty="0">
                <a:latin typeface="Roboto"/>
                <a:ea typeface="Roboto Black"/>
              </a:rPr>
              <a:t> nama </a:t>
            </a:r>
            <a:r>
              <a:rPr lang="en-US" sz="1400" b="0" dirty="0" err="1">
                <a:latin typeface="Roboto"/>
                <a:ea typeface="Roboto Black"/>
              </a:rPr>
              <a:t>harus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dirty="0" err="1">
                <a:latin typeface="Roboto"/>
                <a:ea typeface="Roboto Black"/>
              </a:rPr>
              <a:t>mempunyai</a:t>
            </a:r>
            <a:r>
              <a:rPr lang="en-US" sz="1400" b="0" dirty="0">
                <a:latin typeface="Roboto"/>
                <a:ea typeface="Roboto Black"/>
              </a:rPr>
              <a:t> </a:t>
            </a:r>
            <a:r>
              <a:rPr lang="en-US" sz="1400" b="0" dirty="0" err="1">
                <a:latin typeface="Roboto"/>
                <a:ea typeface="Roboto Black"/>
              </a:rPr>
              <a:t>nilai</a:t>
            </a:r>
            <a:r>
              <a:rPr lang="en-US" sz="1400" b="0" dirty="0">
                <a:latin typeface="Roboto"/>
                <a:ea typeface="Roboto Black"/>
              </a:rPr>
              <a:t>  '</a:t>
            </a:r>
            <a:r>
              <a:rPr lang="en-US" sz="1400" b="0" dirty="0">
                <a:solidFill>
                  <a:srgbClr val="008000"/>
                </a:solidFill>
                <a:latin typeface="Consolas"/>
                <a:ea typeface="Roboto Black"/>
              </a:rPr>
              <a:t>Ridhwan</a:t>
            </a:r>
            <a:r>
              <a:rPr lang="en-US" sz="1400" b="0" dirty="0">
                <a:latin typeface="Roboto"/>
                <a:ea typeface="Roboto Black"/>
              </a:rPr>
              <a:t>'</a:t>
            </a:r>
          </a:p>
          <a:p>
            <a:pPr marL="285750" indent="-285750">
              <a:buFont typeface="Calibri"/>
              <a:buChar char="-"/>
            </a:pPr>
            <a:endParaRPr lang="en-US" sz="1400" b="0" dirty="0">
              <a:latin typeface="Roboto"/>
              <a:ea typeface="Roboto Black"/>
            </a:endParaRPr>
          </a:p>
          <a:p>
            <a:endParaRPr lang="en-US" sz="1400" b="0" dirty="0">
              <a:latin typeface="Roboto"/>
              <a:ea typeface="Roboto Black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2D9A68-4A90-0F89-F51C-46A4D16B0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071" y="2573010"/>
            <a:ext cx="4426858" cy="188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014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F92A980B-0055-600F-B8EF-51E50DF81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EBC624CC-79AC-0483-D399-1F3482136A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173" y="509694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Membuat Report HTML</a:t>
            </a:r>
            <a:endParaRPr lang="en-US" dirty="0"/>
          </a:p>
        </p:txBody>
      </p:sp>
      <p:sp>
        <p:nvSpPr>
          <p:cNvPr id="5" name="Google Shape;119;p17">
            <a:extLst>
              <a:ext uri="{FF2B5EF4-FFF2-40B4-BE49-F238E27FC236}">
                <a16:creationId xmlns:a16="http://schemas.microsoft.com/office/drawing/2014/main" id="{9EA813E4-E989-EB0F-030E-559FFDD8E3BE}"/>
              </a:ext>
            </a:extLst>
          </p:cNvPr>
          <p:cNvSpPr txBox="1">
            <a:spLocks/>
          </p:cNvSpPr>
          <p:nvPr/>
        </p:nvSpPr>
        <p:spPr>
          <a:xfrm>
            <a:off x="600871" y="1279682"/>
            <a:ext cx="7928667" cy="170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600" b="0" dirty="0">
                <a:latin typeface="Roboto"/>
                <a:ea typeface="Roboto Black"/>
                <a:cs typeface="Roboto"/>
              </a:rPr>
              <a:t>Ada 2 step </a:t>
            </a:r>
            <a:r>
              <a:rPr lang="en-US" sz="1600" b="0" dirty="0" err="1">
                <a:latin typeface="Roboto"/>
                <a:ea typeface="Roboto Black"/>
                <a:cs typeface="Roboto"/>
              </a:rPr>
              <a:t>untuk</a:t>
            </a:r>
            <a:r>
              <a:rPr lang="en-US" sz="1600" b="0" dirty="0">
                <a:latin typeface="Roboto"/>
                <a:ea typeface="Roboto Black"/>
                <a:cs typeface="Roboto"/>
              </a:rPr>
              <a:t> </a:t>
            </a:r>
            <a:r>
              <a:rPr lang="en-US" sz="1600" b="0" dirty="0" err="1">
                <a:latin typeface="Roboto"/>
                <a:ea typeface="Roboto Black"/>
                <a:cs typeface="Roboto"/>
              </a:rPr>
              <a:t>membuat</a:t>
            </a:r>
            <a:r>
              <a:rPr lang="en-US" sz="1600" b="0" dirty="0">
                <a:latin typeface="Roboto"/>
                <a:ea typeface="Roboto Black"/>
                <a:cs typeface="Roboto"/>
              </a:rPr>
              <a:t> report:</a:t>
            </a:r>
            <a:endParaRPr lang="en-US">
              <a:latin typeface="Roboto"/>
              <a:ea typeface="Roboto Black"/>
            </a:endParaRPr>
          </a:p>
          <a:p>
            <a:endParaRPr lang="en-US" sz="1600" b="0" dirty="0">
              <a:latin typeface="Roboto"/>
              <a:ea typeface="Roboto Black"/>
              <a:cs typeface="Roboto"/>
            </a:endParaRPr>
          </a:p>
          <a:p>
            <a:pPr marL="342900" indent="-342900">
              <a:buAutoNum type="arabicPeriod"/>
            </a:pPr>
            <a:r>
              <a:rPr lang="en-US" sz="1600" b="0" dirty="0">
                <a:latin typeface="Roboto"/>
                <a:ea typeface="Roboto Black"/>
              </a:rPr>
              <a:t>Run test </a:t>
            </a:r>
            <a:r>
              <a:rPr lang="en-US" sz="1600" b="0" dirty="0" err="1">
                <a:latin typeface="Roboto"/>
                <a:ea typeface="Roboto Black"/>
              </a:rPr>
              <a:t>kita</a:t>
            </a:r>
            <a:r>
              <a:rPr lang="en-US" sz="1600" b="0" dirty="0">
                <a:latin typeface="Roboto"/>
                <a:ea typeface="Roboto Black"/>
              </a:rPr>
              <a:t> </a:t>
            </a:r>
            <a:r>
              <a:rPr lang="en-US" sz="1600" b="0" dirty="0" err="1">
                <a:latin typeface="Roboto"/>
                <a:ea typeface="Roboto Black"/>
              </a:rPr>
              <a:t>dengan</a:t>
            </a:r>
            <a:r>
              <a:rPr lang="en-US" sz="1600" b="0" dirty="0">
                <a:latin typeface="Roboto"/>
                <a:ea typeface="Roboto Black"/>
              </a:rPr>
              <a:t> JMeter mode CLI, </a:t>
            </a:r>
            <a:r>
              <a:rPr lang="en-US" sz="1600" b="0" dirty="0" err="1">
                <a:latin typeface="Roboto"/>
                <a:ea typeface="Roboto Black"/>
              </a:rPr>
              <a:t>atau</a:t>
            </a:r>
            <a:r>
              <a:rPr lang="en-US" sz="1600" b="0" dirty="0">
                <a:latin typeface="Roboto"/>
                <a:ea typeface="Roboto Black"/>
              </a:rPr>
              <a:t> non GUI, </a:t>
            </a:r>
            <a:endParaRPr lang="en-US">
              <a:latin typeface="Roboto"/>
              <a:ea typeface="Roboto Black"/>
            </a:endParaRPr>
          </a:p>
          <a:p>
            <a:r>
              <a:rPr lang="en-US" sz="1600" b="0" dirty="0">
                <a:latin typeface="Roboto"/>
                <a:ea typeface="Roboto Black"/>
              </a:rPr>
              <a:t>       </a:t>
            </a:r>
            <a:r>
              <a:rPr lang="en-US" sz="1600" b="0" dirty="0" err="1">
                <a:latin typeface="Roboto"/>
                <a:ea typeface="Roboto Black"/>
              </a:rPr>
              <a:t>untuk</a:t>
            </a:r>
            <a:r>
              <a:rPr lang="en-US" sz="1600" b="0" dirty="0">
                <a:latin typeface="Roboto"/>
                <a:ea typeface="Roboto Black"/>
              </a:rPr>
              <a:t> generate file report .</a:t>
            </a:r>
            <a:r>
              <a:rPr lang="en-US" sz="1600" b="0" dirty="0" err="1">
                <a:latin typeface="Roboto"/>
                <a:ea typeface="Roboto Black"/>
              </a:rPr>
              <a:t>jtl</a:t>
            </a:r>
            <a:r>
              <a:rPr lang="en-US" sz="1600" b="0" dirty="0">
                <a:latin typeface="Roboto"/>
                <a:ea typeface="Roboto Black"/>
              </a:rPr>
              <a:t> (</a:t>
            </a:r>
            <a:r>
              <a:rPr lang="en-US" sz="1600" b="0" dirty="0" err="1">
                <a:latin typeface="Roboto"/>
                <a:ea typeface="Roboto Black"/>
              </a:rPr>
              <a:t>bawaan</a:t>
            </a:r>
            <a:r>
              <a:rPr lang="en-US" sz="1600" b="0" dirty="0">
                <a:latin typeface="Roboto"/>
                <a:ea typeface="Roboto Black"/>
              </a:rPr>
              <a:t> JMeter)</a:t>
            </a:r>
            <a:endParaRPr lang="en-US">
              <a:latin typeface="Roboto"/>
              <a:ea typeface="Roboto Black"/>
            </a:endParaRPr>
          </a:p>
          <a:p>
            <a:r>
              <a:rPr lang="en-US" sz="1600" b="0" dirty="0">
                <a:latin typeface="Roboto"/>
                <a:ea typeface="Roboto Black"/>
              </a:rPr>
              <a:t>2.   Compile report </a:t>
            </a:r>
            <a:r>
              <a:rPr lang="en-US" sz="1600" b="0" dirty="0" err="1">
                <a:latin typeface="Roboto"/>
                <a:ea typeface="Roboto Black"/>
              </a:rPr>
              <a:t>jtl</a:t>
            </a:r>
            <a:r>
              <a:rPr lang="en-US" sz="1600" b="0" dirty="0">
                <a:latin typeface="Roboto"/>
                <a:ea typeface="Roboto Black"/>
              </a:rPr>
              <a:t> </a:t>
            </a:r>
            <a:r>
              <a:rPr lang="en-US" sz="1600" b="0" dirty="0" err="1">
                <a:latin typeface="Roboto"/>
                <a:ea typeface="Roboto Black"/>
              </a:rPr>
              <a:t>tersebut</a:t>
            </a:r>
            <a:r>
              <a:rPr lang="en-US" sz="1600" b="0" dirty="0">
                <a:latin typeface="Roboto"/>
                <a:ea typeface="Roboto Black"/>
              </a:rPr>
              <a:t> agar </a:t>
            </a:r>
            <a:r>
              <a:rPr lang="en-US" sz="1600" b="0" dirty="0" err="1">
                <a:latin typeface="Roboto"/>
                <a:ea typeface="Roboto Black"/>
              </a:rPr>
              <a:t>menjadi</a:t>
            </a:r>
            <a:r>
              <a:rPr lang="en-US" sz="1600" b="0" dirty="0">
                <a:latin typeface="Roboto"/>
                <a:ea typeface="Roboto Black"/>
              </a:rPr>
              <a:t> HTML</a:t>
            </a:r>
            <a:endParaRPr lang="en-US"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2076841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88FA7E4A-8D6B-6983-E5A2-11C2895E5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3CBD78B8-AA3A-028F-2AC1-FCDA6455BD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173" y="509694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Membuat Report HTML</a:t>
            </a:r>
            <a:endParaRPr lang="en-US" dirty="0"/>
          </a:p>
        </p:txBody>
      </p:sp>
      <p:sp>
        <p:nvSpPr>
          <p:cNvPr id="5" name="Google Shape;119;p17">
            <a:extLst>
              <a:ext uri="{FF2B5EF4-FFF2-40B4-BE49-F238E27FC236}">
                <a16:creationId xmlns:a16="http://schemas.microsoft.com/office/drawing/2014/main" id="{B5E97280-FD2D-BE3B-334E-E38FAD2F3F44}"/>
              </a:ext>
            </a:extLst>
          </p:cNvPr>
          <p:cNvSpPr txBox="1">
            <a:spLocks/>
          </p:cNvSpPr>
          <p:nvPr/>
        </p:nvSpPr>
        <p:spPr>
          <a:xfrm>
            <a:off x="490258" y="671311"/>
            <a:ext cx="3559458" cy="9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en-US" sz="1600" b="0" dirty="0">
              <a:solidFill>
                <a:schemeClr val="tx1"/>
              </a:solidFill>
              <a:latin typeface="Roboto"/>
              <a:ea typeface="Roboto Black"/>
              <a:cs typeface="Roboto"/>
            </a:endParaRPr>
          </a:p>
          <a:p>
            <a:endParaRPr lang="en-US" sz="1600" b="0" dirty="0">
              <a:solidFill>
                <a:schemeClr val="tx1"/>
              </a:solidFill>
              <a:latin typeface="Roboto"/>
              <a:ea typeface="Roboto Black"/>
              <a:cs typeface="Roboto"/>
            </a:endParaRPr>
          </a:p>
          <a:p>
            <a:r>
              <a:rPr lang="en-US" sz="1600" b="0" dirty="0">
                <a:solidFill>
                  <a:schemeClr val="tx1"/>
                </a:solidFill>
                <a:latin typeface="Roboto"/>
                <a:ea typeface="Roboto Black"/>
              </a:rPr>
              <a:t>      1. Generate file report .</a:t>
            </a:r>
            <a:r>
              <a:rPr lang="en-US" sz="1600" b="0" err="1">
                <a:solidFill>
                  <a:schemeClr val="tx1"/>
                </a:solidFill>
                <a:latin typeface="Roboto"/>
                <a:ea typeface="Roboto Black"/>
              </a:rPr>
              <a:t>jtl</a:t>
            </a:r>
            <a:r>
              <a:rPr lang="en-US" sz="1600" b="0" dirty="0">
                <a:solidFill>
                  <a:schemeClr val="tx1"/>
                </a:solidFill>
                <a:latin typeface="Roboto"/>
                <a:ea typeface="Roboto Black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5F1B0D-1185-51AC-5780-0BB4B45A8F5F}"/>
              </a:ext>
            </a:extLst>
          </p:cNvPr>
          <p:cNvSpPr txBox="1"/>
          <p:nvPr/>
        </p:nvSpPr>
        <p:spPr>
          <a:xfrm>
            <a:off x="986298" y="1825113"/>
            <a:ext cx="714374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latin typeface="Roboto"/>
              </a:rPr>
              <a:t>Berikut</a:t>
            </a:r>
            <a:r>
              <a:rPr lang="en-US" dirty="0">
                <a:latin typeface="Roboto"/>
              </a:rPr>
              <a:t> command yang </a:t>
            </a:r>
            <a:r>
              <a:rPr lang="en-US" err="1">
                <a:latin typeface="Roboto"/>
              </a:rPr>
              <a:t>digunakan</a:t>
            </a:r>
            <a:endParaRPr lang="en-US">
              <a:latin typeface="Roboto"/>
            </a:endParaRPr>
          </a:p>
          <a:p>
            <a:endParaRPr lang="en-US" dirty="0">
              <a:latin typeface="Roboto"/>
            </a:endParaRPr>
          </a:p>
          <a:p>
            <a:r>
              <a:rPr lang="en-US" b="1" err="1">
                <a:latin typeface="Roboto"/>
              </a:rPr>
              <a:t>jmeter</a:t>
            </a:r>
            <a:r>
              <a:rPr lang="en-US" b="1" dirty="0">
                <a:latin typeface="Roboto"/>
              </a:rPr>
              <a:t> -n -t test-</a:t>
            </a:r>
            <a:r>
              <a:rPr lang="en-US" b="1" err="1">
                <a:latin typeface="Roboto"/>
              </a:rPr>
              <a:t>plan.jmx</a:t>
            </a:r>
            <a:r>
              <a:rPr lang="en-US" b="1" dirty="0">
                <a:latin typeface="Roboto"/>
              </a:rPr>
              <a:t> -l </a:t>
            </a:r>
            <a:r>
              <a:rPr lang="en-US" b="1" err="1">
                <a:latin typeface="Roboto"/>
              </a:rPr>
              <a:t>results.jtl</a:t>
            </a:r>
            <a:r>
              <a:rPr lang="en-US" b="1" dirty="0">
                <a:latin typeface="Roboto"/>
              </a:rPr>
              <a:t> </a:t>
            </a:r>
            <a:endParaRPr lang="en-US" b="1">
              <a:latin typeface="Roboto"/>
            </a:endParaRPr>
          </a:p>
          <a:p>
            <a:endParaRPr lang="en-US" dirty="0">
              <a:latin typeface="Roboto"/>
            </a:endParaRPr>
          </a:p>
          <a:p>
            <a:r>
              <a:rPr lang="en-US" dirty="0">
                <a:latin typeface="Roboto"/>
              </a:rPr>
              <a:t>Arguments: </a:t>
            </a:r>
          </a:p>
          <a:p>
            <a:endParaRPr lang="en-US" dirty="0">
              <a:latin typeface="Roboto"/>
            </a:endParaRPr>
          </a:p>
          <a:p>
            <a:r>
              <a:rPr lang="en-US" dirty="0">
                <a:latin typeface="Roboto"/>
              </a:rPr>
              <a:t>-n : mode non GUI </a:t>
            </a:r>
            <a:endParaRPr lang="en-US" dirty="0"/>
          </a:p>
          <a:p>
            <a:r>
              <a:rPr lang="en-US" dirty="0">
                <a:latin typeface="Roboto"/>
              </a:rPr>
              <a:t>-t : </a:t>
            </a:r>
            <a:r>
              <a:rPr lang="en-US" dirty="0" err="1">
                <a:latin typeface="Roboto"/>
              </a:rPr>
              <a:t>lokasi</a:t>
            </a:r>
            <a:r>
              <a:rPr lang="en-US" dirty="0">
                <a:latin typeface="Roboto"/>
              </a:rPr>
              <a:t> file JMeter </a:t>
            </a:r>
            <a:r>
              <a:rPr lang="en-US" dirty="0" err="1">
                <a:latin typeface="Roboto"/>
              </a:rPr>
              <a:t>kita</a:t>
            </a:r>
            <a:r>
              <a:rPr lang="en-US" dirty="0">
                <a:latin typeface="Roboto"/>
              </a:rPr>
              <a:t> </a:t>
            </a:r>
          </a:p>
          <a:p>
            <a:r>
              <a:rPr lang="en-US" dirty="0">
                <a:latin typeface="Roboto"/>
              </a:rPr>
              <a:t>-l : output </a:t>
            </a:r>
            <a:r>
              <a:rPr lang="en-US" dirty="0" err="1">
                <a:latin typeface="Roboto"/>
              </a:rPr>
              <a:t>tempat</a:t>
            </a:r>
            <a:r>
              <a:rPr lang="en-US" dirty="0">
                <a:latin typeface="Roboto"/>
              </a:rPr>
              <a:t> file report .</a:t>
            </a:r>
            <a:r>
              <a:rPr lang="en-US" dirty="0" err="1">
                <a:latin typeface="Roboto"/>
              </a:rPr>
              <a:t>jtl</a:t>
            </a:r>
            <a:endParaRPr lang="en-US" dirty="0"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1452559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8A83E63F-D461-4799-F13B-AED17C50C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D1BEFBF0-E382-6C0F-3A85-D3BE4CE1F1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173" y="509694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Membuat Report HTML</a:t>
            </a:r>
            <a:endParaRPr lang="en-US" dirty="0"/>
          </a:p>
        </p:txBody>
      </p:sp>
      <p:sp>
        <p:nvSpPr>
          <p:cNvPr id="5" name="Google Shape;119;p17">
            <a:extLst>
              <a:ext uri="{FF2B5EF4-FFF2-40B4-BE49-F238E27FC236}">
                <a16:creationId xmlns:a16="http://schemas.microsoft.com/office/drawing/2014/main" id="{34909724-2A07-2F1E-6C4A-7E6476DC8F4F}"/>
              </a:ext>
            </a:extLst>
          </p:cNvPr>
          <p:cNvSpPr txBox="1">
            <a:spLocks/>
          </p:cNvSpPr>
          <p:nvPr/>
        </p:nvSpPr>
        <p:spPr>
          <a:xfrm>
            <a:off x="490258" y="671311"/>
            <a:ext cx="3559458" cy="9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en-US" sz="1600" b="0" dirty="0">
              <a:latin typeface="Roboto"/>
              <a:ea typeface="Roboto Black"/>
              <a:cs typeface="Roboto"/>
            </a:endParaRPr>
          </a:p>
          <a:p>
            <a:endParaRPr lang="en-US" sz="1600" b="0" dirty="0">
              <a:latin typeface="Roboto"/>
              <a:ea typeface="Roboto Black"/>
              <a:cs typeface="Roboto"/>
            </a:endParaRPr>
          </a:p>
          <a:p>
            <a:r>
              <a:rPr lang="en-US" sz="1600" b="0" dirty="0">
                <a:latin typeface="Roboto"/>
                <a:ea typeface="Roboto Black"/>
              </a:rPr>
              <a:t>  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4F46D6-8C1A-61DB-0547-84F956130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47" y="1367747"/>
            <a:ext cx="5032888" cy="1946313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3B90E5-BD20-85D7-7AC6-AB9EC401D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314" y="1385735"/>
            <a:ext cx="2824009" cy="194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037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A0005522-CACF-E2AC-1ED2-001A77006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D05C9AE2-5728-8B68-D77E-F3B58CD22C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173" y="509694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Membuat Report HTML</a:t>
            </a:r>
            <a:endParaRPr lang="en-US" dirty="0"/>
          </a:p>
        </p:txBody>
      </p:sp>
      <p:sp>
        <p:nvSpPr>
          <p:cNvPr id="5" name="Google Shape;119;p17">
            <a:extLst>
              <a:ext uri="{FF2B5EF4-FFF2-40B4-BE49-F238E27FC236}">
                <a16:creationId xmlns:a16="http://schemas.microsoft.com/office/drawing/2014/main" id="{00A70ADD-C9CE-DE3C-1326-CCC2AF60B2C7}"/>
              </a:ext>
            </a:extLst>
          </p:cNvPr>
          <p:cNvSpPr txBox="1">
            <a:spLocks/>
          </p:cNvSpPr>
          <p:nvPr/>
        </p:nvSpPr>
        <p:spPr>
          <a:xfrm>
            <a:off x="490258" y="671311"/>
            <a:ext cx="3559458" cy="9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en-US" sz="1600" b="0" dirty="0">
              <a:latin typeface="Roboto"/>
              <a:ea typeface="Roboto Black"/>
              <a:cs typeface="Roboto"/>
            </a:endParaRPr>
          </a:p>
          <a:p>
            <a:endParaRPr lang="en-US" sz="1600" b="0" dirty="0">
              <a:latin typeface="Roboto"/>
              <a:ea typeface="Roboto Black"/>
              <a:cs typeface="Roboto"/>
            </a:endParaRPr>
          </a:p>
          <a:p>
            <a:r>
              <a:rPr lang="en-US" sz="1600" b="0" dirty="0">
                <a:latin typeface="Roboto"/>
                <a:ea typeface="Roboto Black"/>
              </a:rPr>
              <a:t>  </a:t>
            </a:r>
          </a:p>
        </p:txBody>
      </p:sp>
      <p:sp>
        <p:nvSpPr>
          <p:cNvPr id="6" name="Google Shape;119;p17">
            <a:extLst>
              <a:ext uri="{FF2B5EF4-FFF2-40B4-BE49-F238E27FC236}">
                <a16:creationId xmlns:a16="http://schemas.microsoft.com/office/drawing/2014/main" id="{1984BC85-4C8E-37D0-52FC-F4ECE3589466}"/>
              </a:ext>
            </a:extLst>
          </p:cNvPr>
          <p:cNvSpPr txBox="1">
            <a:spLocks/>
          </p:cNvSpPr>
          <p:nvPr/>
        </p:nvSpPr>
        <p:spPr>
          <a:xfrm>
            <a:off x="320037" y="667009"/>
            <a:ext cx="5817804" cy="9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en-US" sz="1600" b="0" dirty="0">
              <a:solidFill>
                <a:schemeClr val="tx1"/>
              </a:solidFill>
              <a:latin typeface="Roboto"/>
              <a:ea typeface="Roboto Black"/>
              <a:cs typeface="Roboto"/>
            </a:endParaRPr>
          </a:p>
          <a:p>
            <a:endParaRPr lang="en-US" sz="1600" b="0" dirty="0">
              <a:solidFill>
                <a:schemeClr val="tx1"/>
              </a:solidFill>
              <a:latin typeface="Roboto"/>
              <a:ea typeface="Roboto Black"/>
              <a:cs typeface="Roboto"/>
            </a:endParaRPr>
          </a:p>
          <a:p>
            <a:r>
              <a:rPr lang="en-US" sz="1600" b="0" dirty="0">
                <a:solidFill>
                  <a:schemeClr val="tx1"/>
                </a:solidFill>
                <a:latin typeface="Roboto"/>
                <a:ea typeface="Roboto Black"/>
              </a:rPr>
              <a:t>      2. Compile file </a:t>
            </a:r>
            <a:r>
              <a:rPr lang="en-US" sz="1600" b="0" dirty="0" err="1">
                <a:solidFill>
                  <a:schemeClr val="tx1"/>
                </a:solidFill>
                <a:latin typeface="Roboto"/>
                <a:ea typeface="Roboto Black"/>
              </a:rPr>
              <a:t>reports.jtl</a:t>
            </a:r>
            <a:r>
              <a:rPr lang="en-US" sz="1600" b="0" dirty="0">
                <a:solidFill>
                  <a:schemeClr val="tx1"/>
                </a:solidFill>
                <a:latin typeface="Roboto"/>
                <a:ea typeface="Roboto Black"/>
              </a:rPr>
              <a:t> </a:t>
            </a:r>
            <a:r>
              <a:rPr lang="en-US" sz="1600" b="0" dirty="0" err="1">
                <a:solidFill>
                  <a:schemeClr val="tx1"/>
                </a:solidFill>
                <a:latin typeface="Roboto"/>
                <a:ea typeface="Roboto Black"/>
              </a:rPr>
              <a:t>ke</a:t>
            </a:r>
            <a:r>
              <a:rPr lang="en-US" sz="1600" b="0" dirty="0">
                <a:solidFill>
                  <a:schemeClr val="tx1"/>
                </a:solidFill>
                <a:latin typeface="Roboto"/>
                <a:ea typeface="Roboto Black"/>
              </a:rPr>
              <a:t> html</a:t>
            </a:r>
            <a:endParaRPr lang="en-US" sz="1600" b="0" dirty="0">
              <a:solidFill>
                <a:schemeClr val="tx1"/>
              </a:solidFill>
              <a:ea typeface="Roboto Blac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FCB6A5-5F6C-AA8F-3998-288CA71A6FD5}"/>
              </a:ext>
            </a:extLst>
          </p:cNvPr>
          <p:cNvSpPr txBox="1"/>
          <p:nvPr/>
        </p:nvSpPr>
        <p:spPr>
          <a:xfrm>
            <a:off x="903338" y="1825113"/>
            <a:ext cx="714374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tx1"/>
                </a:solidFill>
                <a:latin typeface="Roboto"/>
                <a:cs typeface="Poppins"/>
              </a:rPr>
              <a:t>Berikut</a:t>
            </a:r>
            <a:r>
              <a:rPr lang="en-US" dirty="0">
                <a:solidFill>
                  <a:schemeClr val="tx1"/>
                </a:solidFill>
                <a:latin typeface="Roboto"/>
                <a:cs typeface="Poppins"/>
              </a:rPr>
              <a:t> command yang </a:t>
            </a:r>
            <a:r>
              <a:rPr lang="en-US" err="1">
                <a:solidFill>
                  <a:schemeClr val="tx1"/>
                </a:solidFill>
                <a:latin typeface="Roboto"/>
                <a:cs typeface="Poppins"/>
              </a:rPr>
              <a:t>digunakan</a:t>
            </a:r>
            <a:endParaRPr lang="en-US">
              <a:solidFill>
                <a:schemeClr val="tx1"/>
              </a:solidFill>
              <a:latin typeface="Roboto"/>
              <a:cs typeface="Poppins"/>
            </a:endParaRPr>
          </a:p>
          <a:p>
            <a:endParaRPr lang="en-US" dirty="0">
              <a:latin typeface="Roboto"/>
              <a:cs typeface="Poppins"/>
            </a:endParaRPr>
          </a:p>
          <a:p>
            <a:r>
              <a:rPr lang="en-US" b="1" err="1">
                <a:solidFill>
                  <a:schemeClr val="tx1"/>
                </a:solidFill>
                <a:latin typeface="Roboto"/>
                <a:cs typeface="Poppins"/>
              </a:rPr>
              <a:t>jmeter</a:t>
            </a:r>
            <a:r>
              <a:rPr lang="en-US" b="1" dirty="0">
                <a:solidFill>
                  <a:schemeClr val="tx1"/>
                </a:solidFill>
                <a:latin typeface="Roboto"/>
                <a:cs typeface="Poppins"/>
              </a:rPr>
              <a:t> -g </a:t>
            </a:r>
            <a:r>
              <a:rPr lang="en-US" b="1" err="1">
                <a:solidFill>
                  <a:schemeClr val="tx1"/>
                </a:solidFill>
                <a:latin typeface="Roboto"/>
                <a:cs typeface="Poppins"/>
              </a:rPr>
              <a:t>results.jtl</a:t>
            </a:r>
            <a:r>
              <a:rPr lang="en-US" b="1" dirty="0">
                <a:solidFill>
                  <a:schemeClr val="tx1"/>
                </a:solidFill>
                <a:latin typeface="Roboto"/>
                <a:cs typeface="Poppins"/>
              </a:rPr>
              <a:t> -o report-folder</a:t>
            </a:r>
          </a:p>
          <a:p>
            <a:endParaRPr lang="en-US" dirty="0">
              <a:latin typeface="Roboto"/>
              <a:cs typeface="Poppins"/>
            </a:endParaRPr>
          </a:p>
          <a:p>
            <a:r>
              <a:rPr lang="en-US" dirty="0">
                <a:solidFill>
                  <a:schemeClr val="tx1"/>
                </a:solidFill>
                <a:latin typeface="Roboto"/>
                <a:cs typeface="Poppins"/>
              </a:rPr>
              <a:t>Arguments:</a:t>
            </a:r>
          </a:p>
          <a:p>
            <a:endParaRPr lang="en-US" dirty="0">
              <a:solidFill>
                <a:schemeClr val="tx1"/>
              </a:solidFill>
              <a:latin typeface="Roboto"/>
              <a:cs typeface="Poppins"/>
            </a:endParaRPr>
          </a:p>
          <a:p>
            <a:r>
              <a:rPr lang="en-US" dirty="0">
                <a:solidFill>
                  <a:schemeClr val="tx1"/>
                </a:solidFill>
                <a:latin typeface="Roboto"/>
                <a:cs typeface="Poppins"/>
              </a:rPr>
              <a:t>-g : </a:t>
            </a:r>
            <a:r>
              <a:rPr lang="en-US" dirty="0" err="1">
                <a:solidFill>
                  <a:schemeClr val="tx1"/>
                </a:solidFill>
                <a:latin typeface="Roboto"/>
                <a:cs typeface="Poppins"/>
              </a:rPr>
              <a:t>lokasi</a:t>
            </a:r>
            <a:r>
              <a:rPr lang="en-US" dirty="0">
                <a:solidFill>
                  <a:schemeClr val="tx1"/>
                </a:solidFill>
                <a:latin typeface="Roboto"/>
                <a:cs typeface="Poppins"/>
              </a:rPr>
              <a:t> file </a:t>
            </a:r>
            <a:r>
              <a:rPr lang="en-US" dirty="0" err="1">
                <a:solidFill>
                  <a:schemeClr val="tx1"/>
                </a:solidFill>
                <a:latin typeface="Roboto"/>
                <a:cs typeface="Poppins"/>
              </a:rPr>
              <a:t>jtl</a:t>
            </a:r>
            <a:r>
              <a:rPr lang="en-US" dirty="0">
                <a:solidFill>
                  <a:schemeClr val="tx1"/>
                </a:solidFill>
                <a:latin typeface="Roboto"/>
                <a:cs typeface="Poppins"/>
              </a:rPr>
              <a:t> yang </a:t>
            </a:r>
            <a:r>
              <a:rPr lang="en-US" dirty="0" err="1">
                <a:solidFill>
                  <a:schemeClr val="tx1"/>
                </a:solidFill>
                <a:latin typeface="Roboto"/>
                <a:cs typeface="Poppins"/>
              </a:rPr>
              <a:t>sudah</a:t>
            </a:r>
            <a:r>
              <a:rPr lang="en-US" dirty="0">
                <a:solidFill>
                  <a:schemeClr val="tx1"/>
                </a:solidFill>
                <a:latin typeface="Roboto"/>
                <a:cs typeface="Poppins"/>
              </a:rPr>
              <a:t> </a:t>
            </a:r>
            <a:r>
              <a:rPr lang="en-US" dirty="0" err="1">
                <a:solidFill>
                  <a:schemeClr val="tx1"/>
                </a:solidFill>
                <a:latin typeface="Roboto"/>
                <a:cs typeface="Poppins"/>
              </a:rPr>
              <a:t>kita</a:t>
            </a:r>
            <a:r>
              <a:rPr lang="en-US" dirty="0">
                <a:solidFill>
                  <a:schemeClr val="tx1"/>
                </a:solidFill>
                <a:latin typeface="Roboto"/>
                <a:cs typeface="Poppins"/>
              </a:rPr>
              <a:t> generate </a:t>
            </a:r>
            <a:r>
              <a:rPr lang="en-US" dirty="0" err="1">
                <a:solidFill>
                  <a:schemeClr val="tx1"/>
                </a:solidFill>
                <a:latin typeface="Roboto"/>
                <a:cs typeface="Poppins"/>
              </a:rPr>
              <a:t>sebelumnya</a:t>
            </a:r>
            <a:endParaRPr lang="en-US" dirty="0">
              <a:solidFill>
                <a:schemeClr val="tx1"/>
              </a:solidFill>
              <a:latin typeface="Roboto"/>
              <a:cs typeface="Poppins"/>
            </a:endParaRPr>
          </a:p>
          <a:p>
            <a:r>
              <a:rPr lang="en-US" dirty="0">
                <a:solidFill>
                  <a:schemeClr val="tx1"/>
                </a:solidFill>
                <a:latin typeface="Roboto"/>
                <a:cs typeface="Poppins"/>
              </a:rPr>
              <a:t>-o : output folder </a:t>
            </a:r>
            <a:r>
              <a:rPr lang="en-US" dirty="0" err="1">
                <a:solidFill>
                  <a:schemeClr val="tx1"/>
                </a:solidFill>
                <a:latin typeface="Roboto"/>
                <a:cs typeface="Poppins"/>
              </a:rPr>
              <a:t>tempat</a:t>
            </a:r>
            <a:r>
              <a:rPr lang="en-US" dirty="0">
                <a:solidFill>
                  <a:schemeClr val="tx1"/>
                </a:solidFill>
                <a:latin typeface="Roboto"/>
                <a:cs typeface="Poppins"/>
              </a:rPr>
              <a:t> report HTML yang </a:t>
            </a:r>
            <a:r>
              <a:rPr lang="en-US" dirty="0" err="1">
                <a:solidFill>
                  <a:schemeClr val="tx1"/>
                </a:solidFill>
                <a:latin typeface="Roboto"/>
                <a:cs typeface="Poppins"/>
              </a:rPr>
              <a:t>ingin</a:t>
            </a:r>
            <a:r>
              <a:rPr lang="en-US" dirty="0">
                <a:solidFill>
                  <a:schemeClr val="tx1"/>
                </a:solidFill>
                <a:latin typeface="Roboto"/>
                <a:cs typeface="Poppins"/>
              </a:rPr>
              <a:t> di generate</a:t>
            </a:r>
          </a:p>
          <a:p>
            <a:endParaRPr lang="en-US" dirty="0"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252526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30EBD5DB-0BC2-43C1-8680-6F54AB88D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90AC701B-D13F-C848-42D4-258D05F461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173" y="509694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Membuat Report HTML</a:t>
            </a:r>
            <a:endParaRPr lang="en-US" dirty="0"/>
          </a:p>
        </p:txBody>
      </p:sp>
      <p:sp>
        <p:nvSpPr>
          <p:cNvPr id="5" name="Google Shape;119;p17">
            <a:extLst>
              <a:ext uri="{FF2B5EF4-FFF2-40B4-BE49-F238E27FC236}">
                <a16:creationId xmlns:a16="http://schemas.microsoft.com/office/drawing/2014/main" id="{834C7EDD-E1F3-5486-D945-B31482E6116B}"/>
              </a:ext>
            </a:extLst>
          </p:cNvPr>
          <p:cNvSpPr txBox="1">
            <a:spLocks/>
          </p:cNvSpPr>
          <p:nvPr/>
        </p:nvSpPr>
        <p:spPr>
          <a:xfrm>
            <a:off x="490258" y="671311"/>
            <a:ext cx="3559458" cy="9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en-US" sz="1600" b="0" dirty="0">
              <a:latin typeface="Roboto"/>
              <a:ea typeface="Roboto Black"/>
              <a:cs typeface="Roboto"/>
            </a:endParaRPr>
          </a:p>
          <a:p>
            <a:endParaRPr lang="en-US" sz="1600" b="0" dirty="0">
              <a:latin typeface="Roboto"/>
              <a:ea typeface="Roboto Black"/>
              <a:cs typeface="Roboto"/>
            </a:endParaRPr>
          </a:p>
          <a:p>
            <a:r>
              <a:rPr lang="en-US" sz="1600" b="0" dirty="0">
                <a:latin typeface="Roboto"/>
                <a:ea typeface="Roboto Black"/>
              </a:rPr>
              <a:t>  </a:t>
            </a:r>
          </a:p>
        </p:txBody>
      </p: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BB83DDE-D432-88CE-0497-59950039E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71" y="1163203"/>
            <a:ext cx="8157702" cy="1111812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2D0DD0-BDFE-E490-15D2-B530064C5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72" y="2388624"/>
            <a:ext cx="3436067" cy="222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83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5926F85E-2F2E-B718-CBEE-1BC3E846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84016DCC-3625-CC43-EAA1-CE01B7F793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173" y="509694"/>
            <a:ext cx="4278443" cy="77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0" dirty="0">
                <a:latin typeface="Roboto Black"/>
                <a:ea typeface="Roboto Black"/>
                <a:cs typeface="Roboto"/>
              </a:rPr>
              <a:t>Membuat Report HTML</a:t>
            </a:r>
            <a:endParaRPr lang="en-US" dirty="0"/>
          </a:p>
        </p:txBody>
      </p:sp>
      <p:sp>
        <p:nvSpPr>
          <p:cNvPr id="5" name="Google Shape;119;p17">
            <a:extLst>
              <a:ext uri="{FF2B5EF4-FFF2-40B4-BE49-F238E27FC236}">
                <a16:creationId xmlns:a16="http://schemas.microsoft.com/office/drawing/2014/main" id="{87C2917B-790C-3710-8A57-CC59E8CB8460}"/>
              </a:ext>
            </a:extLst>
          </p:cNvPr>
          <p:cNvSpPr txBox="1">
            <a:spLocks/>
          </p:cNvSpPr>
          <p:nvPr/>
        </p:nvSpPr>
        <p:spPr>
          <a:xfrm>
            <a:off x="490258" y="671311"/>
            <a:ext cx="3559458" cy="9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44B"/>
              </a:buClr>
              <a:buSzPts val="2600"/>
              <a:buFont typeface="Poppins"/>
              <a:buNone/>
              <a:defRPr sz="2600" b="1" i="0" u="none" strike="noStrike" cap="none">
                <a:solidFill>
                  <a:srgbClr val="17244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en-US" sz="1600" b="0" dirty="0">
              <a:latin typeface="Roboto"/>
              <a:ea typeface="Roboto Black"/>
              <a:cs typeface="Roboto"/>
            </a:endParaRPr>
          </a:p>
          <a:p>
            <a:endParaRPr lang="en-US" sz="1600" b="0" dirty="0">
              <a:latin typeface="Roboto"/>
              <a:ea typeface="Roboto Black"/>
              <a:cs typeface="Roboto"/>
            </a:endParaRPr>
          </a:p>
          <a:p>
            <a:r>
              <a:rPr lang="en-US" sz="1600" b="0" dirty="0">
                <a:latin typeface="Roboto"/>
                <a:ea typeface="Roboto Black"/>
              </a:rPr>
              <a:t>  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3C05D9-6367-8FF5-980B-416B0927C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71" y="1163228"/>
            <a:ext cx="6904089" cy="324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4681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91C838E6-EF2C-32AA-F0E6-21ACB5210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>
            <a:extLst>
              <a:ext uri="{FF2B5EF4-FFF2-40B4-BE49-F238E27FC236}">
                <a16:creationId xmlns:a16="http://schemas.microsoft.com/office/drawing/2014/main" id="{7546219D-A1C4-B5A0-B8C4-F8F3627F5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2710" y="577083"/>
            <a:ext cx="8251278" cy="6060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ct val="100000"/>
              <a:buNone/>
            </a:pPr>
            <a:r>
              <a:rPr lang="en-US" sz="2500" b="0" dirty="0" err="1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Tugas</a:t>
            </a:r>
            <a:r>
              <a:rPr lang="en-US" sz="2500" b="0" dirty="0"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rPr>
              <a:t>!</a:t>
            </a:r>
          </a:p>
          <a:p>
            <a:pPr marL="0" indent="0">
              <a:buSzPct val="100000"/>
              <a:buNone/>
            </a:pPr>
            <a:endParaRPr lang="en-US" sz="2500" b="0" dirty="0">
              <a:latin typeface="Roboto Black" panose="02000000000000000000" pitchFamily="2" charset="0"/>
              <a:ea typeface="Roboto Black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CCAD54-F10E-CCE6-37B3-BCDD2A2A1C69}"/>
              </a:ext>
            </a:extLst>
          </p:cNvPr>
          <p:cNvSpPr txBox="1"/>
          <p:nvPr/>
        </p:nvSpPr>
        <p:spPr>
          <a:xfrm>
            <a:off x="360060" y="1287812"/>
            <a:ext cx="9121516" cy="32932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SzPct val="100000"/>
              <a:buAutoNum type="arabicPeriod"/>
            </a:pP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Buatlah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1 project JMeter</a:t>
            </a:r>
            <a:endParaRPr lang="en-US" sz="1300">
              <a:solidFill>
                <a:schemeClr val="tx1"/>
              </a:solidFill>
              <a:ea typeface="Roboto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indent="-342900">
              <a:buSzPct val="100000"/>
              <a:buAutoNum type="arabicPeriod"/>
            </a:pP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Buat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minimal 1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sampel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dengan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method POST dan GET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dari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request  </a:t>
            </a:r>
            <a:r>
              <a:rPr lang="en-US" sz="1300" dirty="0">
                <a:solidFill>
                  <a:schemeClr val="tx1"/>
                </a:solidFill>
                <a:ea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https://belajar-bareng.onrender.com/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 </a:t>
            </a:r>
            <a:endParaRPr lang="en-US" sz="1300">
              <a:solidFill>
                <a:schemeClr val="tx1"/>
              </a:solidFill>
              <a:ea typeface="Roboto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SzPct val="100000"/>
            </a:pPr>
            <a:r>
              <a:rPr lang="en-US" sz="1300" dirty="0">
                <a:solidFill>
                  <a:schemeClr val="tx1"/>
                </a:solidFill>
                <a:ea typeface="Roboto"/>
              </a:rPr>
              <a:t>        </a:t>
            </a:r>
            <a:r>
              <a:rPr lang="en-US" sz="1300" dirty="0" err="1">
                <a:solidFill>
                  <a:schemeClr val="tx1"/>
                </a:solidFill>
                <a:ea typeface="Roboto"/>
              </a:rPr>
              <a:t>dengan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 </a:t>
            </a:r>
            <a:r>
              <a:rPr lang="en-US" sz="1300" dirty="0" err="1">
                <a:solidFill>
                  <a:schemeClr val="tx1"/>
                </a:solidFill>
                <a:ea typeface="Roboto"/>
              </a:rPr>
              <a:t>ketentuan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:</a:t>
            </a:r>
            <a:endParaRPr lang="en-US" sz="1300">
              <a:solidFill>
                <a:schemeClr val="tx1"/>
              </a:solidFill>
              <a:ea typeface="Roboto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SzPct val="100000"/>
            </a:pPr>
            <a:r>
              <a:rPr lang="en-US" sz="1300" dirty="0">
                <a:solidFill>
                  <a:schemeClr val="tx1"/>
                </a:solidFill>
                <a:ea typeface="Roboto"/>
              </a:rPr>
              <a:t>       </a:t>
            </a:r>
          </a:p>
          <a:p>
            <a:r>
              <a:rPr lang="en-US" sz="1300" dirty="0">
                <a:solidFill>
                  <a:schemeClr val="tx1"/>
                </a:solidFill>
                <a:ea typeface="Roboto"/>
              </a:rPr>
              <a:t>       [POST] </a:t>
            </a:r>
            <a:r>
              <a:rPr lang="en-US" sz="1300" dirty="0" err="1">
                <a:solidFill>
                  <a:schemeClr val="tx1"/>
                </a:solidFill>
                <a:ea typeface="Roboto"/>
              </a:rPr>
              <a:t>Setiap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 user </a:t>
            </a:r>
            <a:r>
              <a:rPr lang="en-US" sz="1300" dirty="0" err="1">
                <a:solidFill>
                  <a:schemeClr val="tx1"/>
                </a:solidFill>
                <a:ea typeface="Roboto"/>
              </a:rPr>
              <a:t>hanya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 </a:t>
            </a:r>
            <a:r>
              <a:rPr lang="en-US" sz="1300" dirty="0" err="1">
                <a:solidFill>
                  <a:schemeClr val="tx1"/>
                </a:solidFill>
                <a:ea typeface="Roboto"/>
              </a:rPr>
              <a:t>melakukan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 </a:t>
            </a:r>
            <a:r>
              <a:rPr lang="en-US" sz="1300" b="1" dirty="0">
                <a:solidFill>
                  <a:schemeClr val="tx1"/>
                </a:solidFill>
                <a:ea typeface="Roboto"/>
              </a:rPr>
              <a:t>1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 </a:t>
            </a:r>
            <a:r>
              <a:rPr lang="en-US" sz="1300" b="1" dirty="0">
                <a:solidFill>
                  <a:schemeClr val="tx1"/>
                </a:solidFill>
                <a:ea typeface="Roboto"/>
              </a:rPr>
              <a:t>kali POST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 request </a:t>
            </a:r>
            <a:r>
              <a:rPr lang="en-US" sz="1300" b="1" dirty="0" err="1">
                <a:solidFill>
                  <a:schemeClr val="tx1"/>
                </a:solidFill>
                <a:ea typeface="Roboto"/>
              </a:rPr>
              <a:t>selama</a:t>
            </a:r>
            <a:r>
              <a:rPr lang="en-US" sz="1300" b="1" dirty="0">
                <a:solidFill>
                  <a:schemeClr val="tx1"/>
                </a:solidFill>
                <a:ea typeface="Roboto"/>
              </a:rPr>
              <a:t> </a:t>
            </a:r>
            <a:r>
              <a:rPr lang="en-US" sz="1300" b="1" dirty="0" err="1">
                <a:solidFill>
                  <a:schemeClr val="tx1"/>
                </a:solidFill>
                <a:ea typeface="Roboto"/>
              </a:rPr>
              <a:t>skenario</a:t>
            </a:r>
            <a:r>
              <a:rPr lang="en-US" sz="1300" b="1" dirty="0">
                <a:solidFill>
                  <a:schemeClr val="tx1"/>
                </a:solidFill>
                <a:ea typeface="Roboto"/>
              </a:rPr>
              <a:t> </a:t>
            </a:r>
            <a:r>
              <a:rPr lang="en-US" sz="1300" b="1" dirty="0" err="1">
                <a:solidFill>
                  <a:schemeClr val="tx1"/>
                </a:solidFill>
                <a:ea typeface="Roboto"/>
              </a:rPr>
              <a:t>dijalankan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.</a:t>
            </a:r>
          </a:p>
          <a:p>
            <a:r>
              <a:rPr lang="en-US" sz="1300" dirty="0">
                <a:solidFill>
                  <a:schemeClr val="tx1"/>
                </a:solidFill>
                <a:ea typeface="Roboto"/>
              </a:rPr>
              <a:t>       [GET] </a:t>
            </a:r>
            <a:r>
              <a:rPr lang="en-US" sz="1300" dirty="0" err="1">
                <a:solidFill>
                  <a:schemeClr val="tx1"/>
                </a:solidFill>
                <a:ea typeface="Roboto"/>
              </a:rPr>
              <a:t>Setiap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 user </a:t>
            </a:r>
            <a:r>
              <a:rPr lang="en-US" sz="1300" dirty="0" err="1">
                <a:solidFill>
                  <a:schemeClr val="tx1"/>
                </a:solidFill>
                <a:ea typeface="Roboto"/>
              </a:rPr>
              <a:t>mengirim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 </a:t>
            </a:r>
            <a:r>
              <a:rPr lang="en-US" sz="1300" b="1" dirty="0">
                <a:solidFill>
                  <a:schemeClr val="tx1"/>
                </a:solidFill>
                <a:ea typeface="Roboto"/>
              </a:rPr>
              <a:t>10 GET request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 per loop, </a:t>
            </a:r>
            <a:r>
              <a:rPr lang="en-US" sz="1300" dirty="0" err="1">
                <a:solidFill>
                  <a:schemeClr val="tx1"/>
                </a:solidFill>
                <a:ea typeface="Roboto"/>
              </a:rPr>
              <a:t>dengan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 </a:t>
            </a:r>
            <a:r>
              <a:rPr lang="en-US" sz="1300" b="1" dirty="0">
                <a:solidFill>
                  <a:schemeClr val="tx1"/>
                </a:solidFill>
                <a:ea typeface="Roboto"/>
              </a:rPr>
              <a:t>total 2 loop per user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, </a:t>
            </a:r>
            <a:r>
              <a:rPr lang="en-US" sz="1300" dirty="0" err="1">
                <a:solidFill>
                  <a:schemeClr val="tx1"/>
                </a:solidFill>
                <a:ea typeface="Roboto"/>
              </a:rPr>
              <a:t>selama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 </a:t>
            </a:r>
            <a:r>
              <a:rPr lang="en-US" sz="1300" dirty="0" err="1">
                <a:solidFill>
                  <a:schemeClr val="tx1"/>
                </a:solidFill>
                <a:ea typeface="Roboto"/>
              </a:rPr>
              <a:t>durasi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 </a:t>
            </a:r>
            <a:r>
              <a:rPr lang="en-US" sz="1300" b="1" dirty="0">
                <a:solidFill>
                  <a:schemeClr val="tx1"/>
                </a:solidFill>
                <a:ea typeface="Roboto"/>
              </a:rPr>
              <a:t>5 </a:t>
            </a:r>
            <a:r>
              <a:rPr lang="en-US" sz="1300" b="1" dirty="0" err="1">
                <a:solidFill>
                  <a:schemeClr val="tx1"/>
                </a:solidFill>
                <a:ea typeface="Roboto"/>
              </a:rPr>
              <a:t>detik</a:t>
            </a:r>
            <a:r>
              <a:rPr lang="en-US" sz="1300" dirty="0">
                <a:solidFill>
                  <a:schemeClr val="tx1"/>
                </a:solidFill>
                <a:ea typeface="Roboto"/>
              </a:rPr>
              <a:t>.</a:t>
            </a:r>
            <a:endParaRPr lang="en-US" sz="1300">
              <a:solidFill>
                <a:schemeClr val="tx1"/>
              </a:solidFill>
            </a:endParaRPr>
          </a:p>
          <a:p>
            <a:pPr marL="457200" indent="-457200">
              <a:buSzPct val="100000"/>
              <a:buAutoNum type="arabicPeriod"/>
            </a:pPr>
            <a:endParaRPr lang="en-US" sz="1300" dirty="0">
              <a:solidFill>
                <a:schemeClr val="tx1"/>
              </a:solidFill>
              <a:ea typeface="Roboto"/>
            </a:endParaRPr>
          </a:p>
          <a:p>
            <a:pPr>
              <a:buSzPct val="100000"/>
            </a:pP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3.    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Berikan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validasi</a:t>
            </a:r>
            <a:endParaRPr lang="en-US" sz="1300">
              <a:solidFill>
                <a:schemeClr val="tx1"/>
              </a:solidFill>
              <a:latin typeface="Roboto"/>
              <a:ea typeface="Roboto"/>
            </a:endParaRPr>
          </a:p>
          <a:p>
            <a:pPr>
              <a:buSzPct val="100000"/>
            </a:pP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      - HTTP Status Code </a:t>
            </a:r>
          </a:p>
          <a:p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      - JSON Field (Status)</a:t>
            </a:r>
          </a:p>
          <a:p>
            <a:pPr>
              <a:buSzPct val="100000"/>
            </a:pP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4.   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Buat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report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dari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hasil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run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tersebut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      </a:t>
            </a:r>
            <a:endParaRPr lang="en-ID" sz="1300">
              <a:solidFill>
                <a:schemeClr val="tx1"/>
              </a:solidFill>
              <a:latin typeface="Roboto"/>
              <a:ea typeface="Roboto"/>
            </a:endParaRPr>
          </a:p>
          <a:p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5.   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Masukan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kedua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file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itu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dalam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satu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folder,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lalu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upload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</a:rPr>
              <a:t>ke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 google drive:</a:t>
            </a:r>
            <a:endParaRPr lang="en-ID" sz="1300">
              <a:solidFill>
                <a:schemeClr val="tx1"/>
              </a:solidFill>
              <a:latin typeface="Roboto"/>
              <a:ea typeface="Roboto"/>
            </a:endParaRPr>
          </a:p>
          <a:p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      - File JMeter .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jmx</a:t>
            </a:r>
            <a:endParaRPr lang="en-ID" sz="13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      - Folder Report yang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sudah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di generate</a:t>
            </a:r>
          </a:p>
          <a:p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</a:rPr>
              <a:t>6.     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Submit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ke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LMS Digital </a:t>
            </a:r>
            <a:r>
              <a:rPr lang="en-US" sz="13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Skola</a:t>
            </a:r>
            <a:endParaRPr lang="en-US" sz="13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endParaRPr lang="en-US" sz="1300" dirty="0">
              <a:solidFill>
                <a:schemeClr val="tx1"/>
              </a:solidFill>
              <a:latin typeface="Roboto"/>
              <a:ea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6746921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2563</TotalTime>
  <Words>1881</Words>
  <Application>Microsoft Office PowerPoint</Application>
  <PresentationFormat>On-screen Show (16:9)</PresentationFormat>
  <Paragraphs>311</Paragraphs>
  <Slides>43</Slides>
  <Notes>43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Simple Light</vt:lpstr>
      <vt:lpstr>LOAD TEST</vt:lpstr>
      <vt:lpstr>Materi: </vt:lpstr>
      <vt:lpstr>Perkenalan Load Test     </vt:lpstr>
      <vt:lpstr>Perkenalan Load Test</vt:lpstr>
      <vt:lpstr>Perkenalan Load Test</vt:lpstr>
      <vt:lpstr>Perkenalan Load Test</vt:lpstr>
      <vt:lpstr>Perkenalan Load Test</vt:lpstr>
      <vt:lpstr>Perkenalan Load Test</vt:lpstr>
      <vt:lpstr>Perkenalan Load Test</vt:lpstr>
      <vt:lpstr>Perkenalan Load Test</vt:lpstr>
      <vt:lpstr>Perkenalan Load Test</vt:lpstr>
      <vt:lpstr>Perkenalan Load Test</vt:lpstr>
      <vt:lpstr>Perkenalan Load Test</vt:lpstr>
      <vt:lpstr>Perkenalan Load Test</vt:lpstr>
      <vt:lpstr>Perkenalan Load Test</vt:lpstr>
      <vt:lpstr>Perkenalan Load Test</vt:lpstr>
      <vt:lpstr>Alat Load Test</vt:lpstr>
      <vt:lpstr>Apa itu JMeter?</vt:lpstr>
      <vt:lpstr>Download JMeter!</vt:lpstr>
      <vt:lpstr>Download JMeter!</vt:lpstr>
      <vt:lpstr>Checklist To Do:</vt:lpstr>
      <vt:lpstr>GUI Jmeter</vt:lpstr>
      <vt:lpstr>Create Load Test Script!</vt:lpstr>
      <vt:lpstr>Test Plan</vt:lpstr>
      <vt:lpstr>Thread Group</vt:lpstr>
      <vt:lpstr>Thread Group</vt:lpstr>
      <vt:lpstr>Sampler</vt:lpstr>
      <vt:lpstr>Sampler</vt:lpstr>
      <vt:lpstr>Listener</vt:lpstr>
      <vt:lpstr>Run Jmeter</vt:lpstr>
      <vt:lpstr>Hasil Run Jmeter</vt:lpstr>
      <vt:lpstr>Assertion</vt:lpstr>
      <vt:lpstr>Assertion</vt:lpstr>
      <vt:lpstr>Assertion</vt:lpstr>
      <vt:lpstr>Assertion</vt:lpstr>
      <vt:lpstr>Membuat Report HTML</vt:lpstr>
      <vt:lpstr>Membuat Report HTML</vt:lpstr>
      <vt:lpstr>Membuat Report HTML</vt:lpstr>
      <vt:lpstr>Membuat Report HTML</vt:lpstr>
      <vt:lpstr>Membuat Report HTML</vt:lpstr>
      <vt:lpstr>Membuat Report HTML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 Ridhwan K</dc:creator>
  <cp:lastModifiedBy>M Ridhwan K</cp:lastModifiedBy>
  <cp:revision>521</cp:revision>
  <dcterms:modified xsi:type="dcterms:W3CDTF">2025-12-15T09:44:00Z</dcterms:modified>
</cp:coreProperties>
</file>